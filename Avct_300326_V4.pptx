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handoutMasterIdLst>
    <p:handoutMasterId r:id="rId14"/>
  </p:handoutMasterIdLst>
  <p:sldIdLst>
    <p:sldId id="256" r:id="rId2"/>
    <p:sldId id="257" r:id="rId3"/>
    <p:sldId id="258" r:id="rId4"/>
    <p:sldId id="259" r:id="rId5"/>
    <p:sldId id="266" r:id="rId6"/>
    <p:sldId id="268" r:id="rId7"/>
    <p:sldId id="261" r:id="rId8"/>
    <p:sldId id="264" r:id="rId9"/>
    <p:sldId id="262" r:id="rId10"/>
    <p:sldId id="263" r:id="rId11"/>
    <p:sldId id="265" r:id="rId12"/>
    <p:sldId id="267" r:id="rId13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5C0F9"/>
    <a:srgbClr val="89BEF8"/>
    <a:srgbClr val="E7E9EC"/>
    <a:srgbClr val="7B7E42"/>
    <a:srgbClr val="CFD1A7"/>
    <a:srgbClr val="2C79BF"/>
    <a:srgbClr val="00B050"/>
    <a:srgbClr val="FFECB2"/>
    <a:srgbClr val="E6E6E6"/>
    <a:srgbClr val="C4C4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>
        <p:scale>
          <a:sx n="90" d="100"/>
          <a:sy n="90" d="100"/>
        </p:scale>
        <p:origin x="60" y="67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88" d="100"/>
          <a:sy n="88" d="100"/>
        </p:scale>
        <p:origin x="2964" y="1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485F52B-4755-4214-9877-607A4D1458BC}" type="datetimeFigureOut">
              <a:rPr lang="fr-FR" smtClean="0"/>
              <a:t>15/04/2026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49E8813-7F16-4FBD-8047-021295A08F2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1434189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 smtClean="0"/>
              <a:t>Modifiez le style des sous-titres du masque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4A47E0-5FAA-4F78-B8AC-F6A82B2136AB}" type="datetimeFigureOut">
              <a:rPr lang="fr-FR" smtClean="0"/>
              <a:t>15/04/2026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9A863A-FBD7-40D9-9425-31E97DA9F3D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17138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4A47E0-5FAA-4F78-B8AC-F6A82B2136AB}" type="datetimeFigureOut">
              <a:rPr lang="fr-FR" smtClean="0"/>
              <a:t>15/04/2026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9A863A-FBD7-40D9-9425-31E97DA9F3D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380810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4A47E0-5FAA-4F78-B8AC-F6A82B2136AB}" type="datetimeFigureOut">
              <a:rPr lang="fr-FR" smtClean="0"/>
              <a:t>15/04/2026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9A863A-FBD7-40D9-9425-31E97DA9F3D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631520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4A47E0-5FAA-4F78-B8AC-F6A82B2136AB}" type="datetimeFigureOut">
              <a:rPr lang="fr-FR" smtClean="0"/>
              <a:t>15/04/2026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9A863A-FBD7-40D9-9425-31E97DA9F3D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404544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4A47E0-5FAA-4F78-B8AC-F6A82B2136AB}" type="datetimeFigureOut">
              <a:rPr lang="fr-FR" smtClean="0"/>
              <a:t>15/04/2026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9A863A-FBD7-40D9-9425-31E97DA9F3D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629674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4A47E0-5FAA-4F78-B8AC-F6A82B2136AB}" type="datetimeFigureOut">
              <a:rPr lang="fr-FR" smtClean="0"/>
              <a:t>15/04/2026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9A863A-FBD7-40D9-9425-31E97DA9F3D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05542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4A47E0-5FAA-4F78-B8AC-F6A82B2136AB}" type="datetimeFigureOut">
              <a:rPr lang="fr-FR" smtClean="0"/>
              <a:t>15/04/2026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9A863A-FBD7-40D9-9425-31E97DA9F3D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700648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4A47E0-5FAA-4F78-B8AC-F6A82B2136AB}" type="datetimeFigureOut">
              <a:rPr lang="fr-FR" smtClean="0"/>
              <a:t>15/04/2026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9A863A-FBD7-40D9-9425-31E97DA9F3D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882802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4A47E0-5FAA-4F78-B8AC-F6A82B2136AB}" type="datetimeFigureOut">
              <a:rPr lang="fr-FR" smtClean="0"/>
              <a:t>15/04/2026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9A863A-FBD7-40D9-9425-31E97DA9F3D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44125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4A47E0-5FAA-4F78-B8AC-F6A82B2136AB}" type="datetimeFigureOut">
              <a:rPr lang="fr-FR" smtClean="0"/>
              <a:t>15/04/2026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9A863A-FBD7-40D9-9425-31E97DA9F3D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803551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4A47E0-5FAA-4F78-B8AC-F6A82B2136AB}" type="datetimeFigureOut">
              <a:rPr lang="fr-FR" smtClean="0"/>
              <a:t>15/04/2026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9A863A-FBD7-40D9-9425-31E97DA9F3D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161167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14A47E0-5FAA-4F78-B8AC-F6A82B2136AB}" type="datetimeFigureOut">
              <a:rPr lang="fr-FR" smtClean="0"/>
              <a:t>15/04/2026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49A863A-FBD7-40D9-9425-31E97DA9F3D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763625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2.jpg"/><Relationship Id="rId7" Type="http://schemas.openxmlformats.org/officeDocument/2006/relationships/hyperlink" Target="https://pdn-patrimonia.unicaen.fr/iejp/france/inventaires/Bretagne/Finistere/FRIEJP_INVFinistere.xml/FRIEJP_INVFinistere_J191.html" TargetMode="External"/><Relationship Id="rId12" Type="http://schemas.openxmlformats.org/officeDocument/2006/relationships/image" Target="../media/image10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jpg"/><Relationship Id="rId11" Type="http://schemas.openxmlformats.org/officeDocument/2006/relationships/image" Target="../media/image9.png"/><Relationship Id="rId5" Type="http://schemas.openxmlformats.org/officeDocument/2006/relationships/image" Target="../media/image4.jpg"/><Relationship Id="rId10" Type="http://schemas.openxmlformats.org/officeDocument/2006/relationships/image" Target="../media/image8.jpg"/><Relationship Id="rId4" Type="http://schemas.openxmlformats.org/officeDocument/2006/relationships/image" Target="../media/image3.jpg"/><Relationship Id="rId9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jpg"/><Relationship Id="rId13" Type="http://schemas.openxmlformats.org/officeDocument/2006/relationships/image" Target="../media/image10.jpg"/><Relationship Id="rId3" Type="http://schemas.openxmlformats.org/officeDocument/2006/relationships/image" Target="../media/image2.jpg"/><Relationship Id="rId7" Type="http://schemas.openxmlformats.org/officeDocument/2006/relationships/hyperlink" Target="https://pdn-patrimonia.unicaen.fr/iejp/france/inventaires/Bretagne/Finistere/FRIEJP_INVFinistere.xml/FRIEJP_INVFinistere_J191.html" TargetMode="External"/><Relationship Id="rId12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jpg"/><Relationship Id="rId11" Type="http://schemas.openxmlformats.org/officeDocument/2006/relationships/image" Target="../media/image8.jpg"/><Relationship Id="rId5" Type="http://schemas.openxmlformats.org/officeDocument/2006/relationships/image" Target="../media/image4.jpg"/><Relationship Id="rId10" Type="http://schemas.openxmlformats.org/officeDocument/2006/relationships/image" Target="../media/image7.png"/><Relationship Id="rId4" Type="http://schemas.openxmlformats.org/officeDocument/2006/relationships/image" Target="../media/image3.jpg"/><Relationship Id="rId9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jpg"/><Relationship Id="rId13" Type="http://schemas.openxmlformats.org/officeDocument/2006/relationships/image" Target="../media/image10.jpg"/><Relationship Id="rId3" Type="http://schemas.openxmlformats.org/officeDocument/2006/relationships/image" Target="../media/image3.jpg"/><Relationship Id="rId7" Type="http://schemas.openxmlformats.org/officeDocument/2006/relationships/hyperlink" Target="https://pdn-patrimonia.unicaen.fr/iejp/france/inventaires/Bretagne/Finistere/FRIEJP_INVFinistere.xml/FRIEJP_INVFinistere_J191.html" TargetMode="External"/><Relationship Id="rId12" Type="http://schemas.openxmlformats.org/officeDocument/2006/relationships/image" Target="../media/image9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chateaudecanon.com/" TargetMode="External"/><Relationship Id="rId11" Type="http://schemas.openxmlformats.org/officeDocument/2006/relationships/image" Target="../media/image8.jpg"/><Relationship Id="rId5" Type="http://schemas.openxmlformats.org/officeDocument/2006/relationships/image" Target="../media/image5.jpg"/><Relationship Id="rId10" Type="http://schemas.openxmlformats.org/officeDocument/2006/relationships/image" Target="../media/image7.png"/><Relationship Id="rId4" Type="http://schemas.openxmlformats.org/officeDocument/2006/relationships/image" Target="../media/image4.jpg"/><Relationship Id="rId9" Type="http://schemas.openxmlformats.org/officeDocument/2006/relationships/image" Target="../media/image12.png"/><Relationship Id="rId1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jpg"/><Relationship Id="rId13" Type="http://schemas.openxmlformats.org/officeDocument/2006/relationships/image" Target="../media/image9.png"/><Relationship Id="rId3" Type="http://schemas.openxmlformats.org/officeDocument/2006/relationships/image" Target="../media/image3.jpg"/><Relationship Id="rId7" Type="http://schemas.openxmlformats.org/officeDocument/2006/relationships/hyperlink" Target="https://pdn-patrimonia.unicaen.fr/iejp/france/inventaires/Bretagne/Finistere/FRIEJP_INVFinistere.xml/FRIEJP_INVFinistere_J191.html" TargetMode="External"/><Relationship Id="rId12" Type="http://schemas.openxmlformats.org/officeDocument/2006/relationships/image" Target="../media/image8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europeangardens.eu/itineraires-jardins/" TargetMode="External"/><Relationship Id="rId11" Type="http://schemas.openxmlformats.org/officeDocument/2006/relationships/image" Target="../media/image7.png"/><Relationship Id="rId5" Type="http://schemas.openxmlformats.org/officeDocument/2006/relationships/image" Target="../media/image5.jpg"/><Relationship Id="rId15" Type="http://schemas.openxmlformats.org/officeDocument/2006/relationships/image" Target="../media/image14.png"/><Relationship Id="rId10" Type="http://schemas.openxmlformats.org/officeDocument/2006/relationships/image" Target="../media/image12.png"/><Relationship Id="rId4" Type="http://schemas.openxmlformats.org/officeDocument/2006/relationships/image" Target="../media/image4.jpg"/><Relationship Id="rId9" Type="http://schemas.openxmlformats.org/officeDocument/2006/relationships/image" Target="../media/image13.png"/><Relationship Id="rId14" Type="http://schemas.openxmlformats.org/officeDocument/2006/relationships/image" Target="../media/image10.jp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6.png"/><Relationship Id="rId7" Type="http://schemas.openxmlformats.org/officeDocument/2006/relationships/image" Target="../media/image1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10" Type="http://schemas.openxmlformats.org/officeDocument/2006/relationships/image" Target="../media/image22.png"/><Relationship Id="rId4" Type="http://schemas.openxmlformats.org/officeDocument/2006/relationships/image" Target="../media/image17.png"/><Relationship Id="rId9" Type="http://schemas.openxmlformats.org/officeDocument/2006/relationships/image" Target="../media/image2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8.png"/><Relationship Id="rId5" Type="http://schemas.openxmlformats.org/officeDocument/2006/relationships/image" Target="../media/image27.jpeg"/><Relationship Id="rId4" Type="http://schemas.openxmlformats.org/officeDocument/2006/relationships/image" Target="../media/image2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27.jpeg"/><Relationship Id="rId4" Type="http://schemas.openxmlformats.org/officeDocument/2006/relationships/image" Target="../media/image2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27.jpeg"/><Relationship Id="rId4" Type="http://schemas.openxmlformats.org/officeDocument/2006/relationships/image" Target="../media/image2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pPr algn="l"/>
            <a:r>
              <a:rPr lang="fr-FR" dirty="0">
                <a:solidFill>
                  <a:srgbClr val="00B050"/>
                </a:solidFill>
              </a:rPr>
              <a:t>Cas d’usage ‘jardins le long d’un itinéraire’ </a:t>
            </a:r>
            <a:br>
              <a:rPr lang="fr-FR" dirty="0">
                <a:solidFill>
                  <a:srgbClr val="00B050"/>
                </a:solidFill>
              </a:rPr>
            </a:br>
            <a:r>
              <a:rPr lang="fr-FR" sz="4000" dirty="0" smtClean="0">
                <a:solidFill>
                  <a:srgbClr val="00B050"/>
                </a:solidFill>
              </a:rPr>
              <a:t>Etude de l’architecture du service</a:t>
            </a:r>
            <a:r>
              <a:rPr lang="fr-FR" dirty="0"/>
              <a:t>	</a:t>
            </a:r>
            <a:r>
              <a:rPr lang="fr-FR" dirty="0" smtClean="0"/>
              <a:t>	</a:t>
            </a:r>
            <a:endParaRPr lang="fr-FR" dirty="0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l"/>
            <a:r>
              <a:rPr lang="fr-FR" dirty="0" smtClean="0"/>
              <a:t>Sylvie Laniepce</a:t>
            </a:r>
          </a:p>
          <a:p>
            <a:pPr algn="l"/>
            <a:r>
              <a:rPr lang="fr-FR" dirty="0" smtClean="0"/>
              <a:t>19</a:t>
            </a:r>
            <a:r>
              <a:rPr lang="fr-FR" dirty="0" smtClean="0"/>
              <a:t>/05/26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6682731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Image 3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6691" y="3677026"/>
            <a:ext cx="1020088" cy="869203"/>
          </a:xfrm>
          <a:prstGeom prst="rect">
            <a:avLst/>
          </a:prstGeom>
        </p:spPr>
      </p:pic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28964" y="226967"/>
            <a:ext cx="10515600" cy="1325563"/>
          </a:xfrm>
        </p:spPr>
        <p:txBody>
          <a:bodyPr>
            <a:normAutofit/>
          </a:bodyPr>
          <a:lstStyle/>
          <a:p>
            <a:r>
              <a:rPr lang="fr-FR" sz="3200" dirty="0" smtClean="0">
                <a:solidFill>
                  <a:srgbClr val="00B050"/>
                </a:solidFill>
              </a:rPr>
              <a:t>Architecture de service N°1 - </a:t>
            </a:r>
            <a:r>
              <a:rPr lang="fr-FR" sz="3200" dirty="0" smtClean="0">
                <a:solidFill>
                  <a:srgbClr val="00B050"/>
                </a:solidFill>
              </a:rPr>
              <a:t>Service </a:t>
            </a:r>
            <a:r>
              <a:rPr lang="fr-FR" sz="3200" dirty="0" err="1" smtClean="0">
                <a:solidFill>
                  <a:srgbClr val="00B050"/>
                </a:solidFill>
              </a:rPr>
              <a:t>standalone</a:t>
            </a:r>
            <a:endParaRPr lang="fr-FR" sz="3200" dirty="0">
              <a:solidFill>
                <a:srgbClr val="00B050"/>
              </a:solidFill>
            </a:endParaRPr>
          </a:p>
        </p:txBody>
      </p:sp>
      <p:pic>
        <p:nvPicPr>
          <p:cNvPr id="7" name="Imag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60824" y="2108845"/>
            <a:ext cx="1460414" cy="485171"/>
          </a:xfrm>
          <a:prstGeom prst="rect">
            <a:avLst/>
          </a:prstGeom>
          <a:ln>
            <a:solidFill>
              <a:schemeClr val="accent6">
                <a:lumMod val="75000"/>
              </a:schemeClr>
            </a:solidFill>
          </a:ln>
        </p:spPr>
      </p:pic>
      <p:grpSp>
        <p:nvGrpSpPr>
          <p:cNvPr id="12" name="Groupe 11"/>
          <p:cNvGrpSpPr/>
          <p:nvPr/>
        </p:nvGrpSpPr>
        <p:grpSpPr>
          <a:xfrm>
            <a:off x="3379316" y="1914826"/>
            <a:ext cx="708387" cy="1211764"/>
            <a:chOff x="4293716" y="2150076"/>
            <a:chExt cx="708387" cy="1211764"/>
          </a:xfrm>
        </p:grpSpPr>
        <p:pic>
          <p:nvPicPr>
            <p:cNvPr id="6" name="Image 5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293716" y="2150076"/>
              <a:ext cx="708387" cy="873210"/>
            </a:xfrm>
            <a:prstGeom prst="rect">
              <a:avLst/>
            </a:prstGeom>
          </p:spPr>
        </p:pic>
        <p:sp>
          <p:nvSpPr>
            <p:cNvPr id="10" name="ZoneTexte 9"/>
            <p:cNvSpPr txBox="1"/>
            <p:nvPr/>
          </p:nvSpPr>
          <p:spPr>
            <a:xfrm>
              <a:off x="4293716" y="3023286"/>
              <a:ext cx="550151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1600" dirty="0" smtClean="0"/>
                <a:t>PDN</a:t>
              </a:r>
              <a:endParaRPr lang="fr-FR" sz="1600" dirty="0"/>
            </a:p>
          </p:txBody>
        </p:sp>
      </p:grpSp>
      <p:grpSp>
        <p:nvGrpSpPr>
          <p:cNvPr id="13" name="Groupe 12"/>
          <p:cNvGrpSpPr/>
          <p:nvPr/>
        </p:nvGrpSpPr>
        <p:grpSpPr>
          <a:xfrm>
            <a:off x="518894" y="4337897"/>
            <a:ext cx="2161874" cy="1774871"/>
            <a:chOff x="1433294" y="4573147"/>
            <a:chExt cx="2161874" cy="1774871"/>
          </a:xfrm>
        </p:grpSpPr>
        <p:pic>
          <p:nvPicPr>
            <p:cNvPr id="5" name="Image 4"/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911072" y="4573147"/>
              <a:ext cx="1206319" cy="1222547"/>
            </a:xfrm>
            <a:prstGeom prst="rect">
              <a:avLst/>
            </a:prstGeom>
          </p:spPr>
        </p:pic>
        <p:sp>
          <p:nvSpPr>
            <p:cNvPr id="11" name="ZoneTexte 10"/>
            <p:cNvSpPr txBox="1"/>
            <p:nvPr/>
          </p:nvSpPr>
          <p:spPr>
            <a:xfrm>
              <a:off x="1433294" y="5763243"/>
              <a:ext cx="2161874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fr-FR" sz="1600" dirty="0" smtClean="0"/>
                <a:t>Utilisateur final</a:t>
              </a:r>
            </a:p>
            <a:p>
              <a:pPr algn="ctr"/>
              <a:r>
                <a:rPr lang="fr-FR" sz="1600" dirty="0" smtClean="0"/>
                <a:t>en situation de mobilité</a:t>
              </a:r>
              <a:endParaRPr lang="fr-FR" sz="1600" dirty="0"/>
            </a:p>
          </p:txBody>
        </p:sp>
      </p:grpSp>
      <p:pic>
        <p:nvPicPr>
          <p:cNvPr id="16" name="Image 15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7215" y="1942713"/>
            <a:ext cx="1458913" cy="906062"/>
          </a:xfrm>
          <a:prstGeom prst="rect">
            <a:avLst/>
          </a:prstGeom>
        </p:spPr>
      </p:pic>
      <p:grpSp>
        <p:nvGrpSpPr>
          <p:cNvPr id="18" name="Groupe 17"/>
          <p:cNvGrpSpPr/>
          <p:nvPr/>
        </p:nvGrpSpPr>
        <p:grpSpPr>
          <a:xfrm>
            <a:off x="2410691" y="4673597"/>
            <a:ext cx="3509818" cy="374353"/>
            <a:chOff x="3325091" y="4908847"/>
            <a:chExt cx="3509818" cy="374353"/>
          </a:xfrm>
        </p:grpSpPr>
        <p:cxnSp>
          <p:nvCxnSpPr>
            <p:cNvPr id="15" name="Connecteur droit avec flèche 14"/>
            <p:cNvCxnSpPr/>
            <p:nvPr/>
          </p:nvCxnSpPr>
          <p:spPr>
            <a:xfrm flipH="1">
              <a:off x="3325091" y="5264727"/>
              <a:ext cx="3509818" cy="18473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ZoneTexte 16"/>
            <p:cNvSpPr txBox="1"/>
            <p:nvPr/>
          </p:nvSpPr>
          <p:spPr>
            <a:xfrm>
              <a:off x="4460086" y="4908847"/>
              <a:ext cx="1239827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1600" dirty="0" smtClean="0">
                  <a:sym typeface="Wingdings" panose="05000000000000000000" pitchFamily="2" charset="2"/>
                </a:rPr>
                <a:t> Trace GPX</a:t>
              </a:r>
              <a:endParaRPr lang="fr-FR" sz="1600" dirty="0"/>
            </a:p>
          </p:txBody>
        </p:sp>
      </p:grpSp>
      <p:grpSp>
        <p:nvGrpSpPr>
          <p:cNvPr id="24" name="Groupe 23"/>
          <p:cNvGrpSpPr/>
          <p:nvPr/>
        </p:nvGrpSpPr>
        <p:grpSpPr>
          <a:xfrm rot="8619606">
            <a:off x="1202929" y="3222727"/>
            <a:ext cx="2074152" cy="343934"/>
            <a:chOff x="3325091" y="5264727"/>
            <a:chExt cx="3509818" cy="343934"/>
          </a:xfrm>
        </p:grpSpPr>
        <p:cxnSp>
          <p:nvCxnSpPr>
            <p:cNvPr id="25" name="Connecteur droit avec flèche 24"/>
            <p:cNvCxnSpPr/>
            <p:nvPr/>
          </p:nvCxnSpPr>
          <p:spPr>
            <a:xfrm flipH="1">
              <a:off x="3325091" y="5264727"/>
              <a:ext cx="3509818" cy="18473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ZoneTexte 25"/>
            <p:cNvSpPr txBox="1"/>
            <p:nvPr/>
          </p:nvSpPr>
          <p:spPr>
            <a:xfrm rot="10793811">
              <a:off x="3361395" y="5270107"/>
              <a:ext cx="3402519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1600" dirty="0" smtClean="0">
                  <a:sym typeface="Wingdings" panose="05000000000000000000" pitchFamily="2" charset="2"/>
                </a:rPr>
                <a:t> </a:t>
              </a:r>
              <a:r>
                <a:rPr lang="fr-FR" sz="1600" dirty="0" err="1" smtClean="0">
                  <a:sym typeface="Wingdings" panose="05000000000000000000" pitchFamily="2" charset="2"/>
                </a:rPr>
                <a:t>POIs</a:t>
              </a:r>
              <a:r>
                <a:rPr lang="fr-FR" sz="1600" baseline="30000" dirty="0" smtClean="0">
                  <a:sym typeface="Wingdings" panose="05000000000000000000" pitchFamily="2" charset="2"/>
                </a:rPr>
                <a:t>(*)</a:t>
              </a:r>
              <a:r>
                <a:rPr lang="fr-FR" sz="1600" dirty="0" smtClean="0">
                  <a:sym typeface="Wingdings" panose="05000000000000000000" pitchFamily="2" charset="2"/>
                </a:rPr>
                <a:t> trace GPX ?</a:t>
              </a:r>
              <a:endParaRPr lang="fr-FR" sz="1600" dirty="0"/>
            </a:p>
          </p:txBody>
        </p:sp>
      </p:grpSp>
      <p:sp>
        <p:nvSpPr>
          <p:cNvPr id="27" name="ZoneTexte 26"/>
          <p:cNvSpPr txBox="1"/>
          <p:nvPr/>
        </p:nvSpPr>
        <p:spPr>
          <a:xfrm>
            <a:off x="0" y="6579736"/>
            <a:ext cx="200689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400" dirty="0" smtClean="0"/>
              <a:t>(*) POI : Point Of </a:t>
            </a:r>
            <a:r>
              <a:rPr lang="fr-FR" sz="1400" dirty="0" err="1" smtClean="0"/>
              <a:t>Interest</a:t>
            </a:r>
            <a:endParaRPr lang="fr-FR" sz="1400" dirty="0"/>
          </a:p>
        </p:txBody>
      </p:sp>
      <p:grpSp>
        <p:nvGrpSpPr>
          <p:cNvPr id="29" name="Groupe 28"/>
          <p:cNvGrpSpPr/>
          <p:nvPr/>
        </p:nvGrpSpPr>
        <p:grpSpPr>
          <a:xfrm rot="19414030">
            <a:off x="1525255" y="3388909"/>
            <a:ext cx="2074152" cy="338554"/>
            <a:chOff x="3316255" y="4991183"/>
            <a:chExt cx="3509818" cy="338554"/>
          </a:xfrm>
        </p:grpSpPr>
        <p:cxnSp>
          <p:nvCxnSpPr>
            <p:cNvPr id="30" name="Connecteur droit avec flèche 29"/>
            <p:cNvCxnSpPr/>
            <p:nvPr/>
          </p:nvCxnSpPr>
          <p:spPr>
            <a:xfrm flipH="1">
              <a:off x="3316255" y="5271800"/>
              <a:ext cx="3509818" cy="18473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ZoneTexte 30">
              <a:hlinkClick r:id="rId7"/>
            </p:cNvPr>
            <p:cNvSpPr txBox="1"/>
            <p:nvPr/>
          </p:nvSpPr>
          <p:spPr>
            <a:xfrm rot="21538134">
              <a:off x="4050899" y="4991183"/>
              <a:ext cx="1587386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1600" dirty="0" smtClean="0">
                  <a:sym typeface="Wingdings" panose="05000000000000000000" pitchFamily="2" charset="2"/>
                </a:rPr>
                <a:t> </a:t>
              </a:r>
              <a:r>
                <a:rPr lang="fr-FR" sz="1600" u="sng" dirty="0" err="1" smtClean="0">
                  <a:solidFill>
                    <a:srgbClr val="0070C0"/>
                  </a:solidFill>
                  <a:sym typeface="Wingdings" panose="05000000000000000000" pitchFamily="2" charset="2"/>
                </a:rPr>
                <a:t>POIs</a:t>
              </a:r>
              <a:r>
                <a:rPr lang="fr-FR" sz="1600" baseline="30000" dirty="0" smtClean="0">
                  <a:sym typeface="Wingdings" panose="05000000000000000000" pitchFamily="2" charset="2"/>
                </a:rPr>
                <a:t>(*)</a:t>
              </a:r>
              <a:endParaRPr lang="fr-FR" sz="1600" dirty="0"/>
            </a:p>
          </p:txBody>
        </p:sp>
      </p:grpSp>
      <p:grpSp>
        <p:nvGrpSpPr>
          <p:cNvPr id="34" name="Groupe 33"/>
          <p:cNvGrpSpPr/>
          <p:nvPr/>
        </p:nvGrpSpPr>
        <p:grpSpPr>
          <a:xfrm rot="19414030">
            <a:off x="1611891" y="3628860"/>
            <a:ext cx="2204673" cy="338554"/>
            <a:chOff x="3104229" y="4991192"/>
            <a:chExt cx="3730680" cy="338554"/>
          </a:xfrm>
        </p:grpSpPr>
        <p:cxnSp>
          <p:nvCxnSpPr>
            <p:cNvPr id="35" name="Connecteur droit avec flèche 34"/>
            <p:cNvCxnSpPr/>
            <p:nvPr/>
          </p:nvCxnSpPr>
          <p:spPr>
            <a:xfrm flipH="1">
              <a:off x="3325091" y="5264727"/>
              <a:ext cx="3509818" cy="18473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ZoneTexte 35">
              <a:hlinkClick r:id="rId7"/>
            </p:cNvPr>
            <p:cNvSpPr txBox="1"/>
            <p:nvPr/>
          </p:nvSpPr>
          <p:spPr>
            <a:xfrm rot="21538134">
              <a:off x="3104229" y="4991192"/>
              <a:ext cx="3480747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1600" dirty="0" smtClean="0">
                  <a:sym typeface="Wingdings" panose="05000000000000000000" pitchFamily="2" charset="2"/>
                </a:rPr>
                <a:t> </a:t>
              </a:r>
              <a:r>
                <a:rPr lang="fr-FR" sz="1600" dirty="0" err="1" smtClean="0">
                  <a:sym typeface="Wingdings" panose="05000000000000000000" pitchFamily="2" charset="2"/>
                </a:rPr>
                <a:t>Fiche</a:t>
              </a:r>
              <a:r>
                <a:rPr lang="fr-FR" sz="1600" baseline="-25000" dirty="0" err="1" smtClean="0">
                  <a:sym typeface="Wingdings" panose="05000000000000000000" pitchFamily="2" charset="2"/>
                </a:rPr>
                <a:t>POI</a:t>
              </a:r>
              <a:r>
                <a:rPr lang="fr-FR" sz="1600" dirty="0" smtClean="0">
                  <a:sym typeface="Wingdings" panose="05000000000000000000" pitchFamily="2" charset="2"/>
                </a:rPr>
                <a:t> on-</a:t>
              </a:r>
              <a:r>
                <a:rPr lang="fr-FR" sz="1600" dirty="0" err="1" smtClean="0">
                  <a:sym typeface="Wingdings" panose="05000000000000000000" pitchFamily="2" charset="2"/>
                </a:rPr>
                <a:t>demand</a:t>
              </a:r>
              <a:endParaRPr lang="fr-FR" sz="1600" dirty="0"/>
            </a:p>
          </p:txBody>
        </p:sp>
      </p:grpSp>
      <p:sp>
        <p:nvSpPr>
          <p:cNvPr id="39" name="ZoneTexte 38"/>
          <p:cNvSpPr txBox="1"/>
          <p:nvPr/>
        </p:nvSpPr>
        <p:spPr>
          <a:xfrm>
            <a:off x="8370277" y="1877704"/>
            <a:ext cx="3821723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Clr>
                <a:schemeClr val="accent6"/>
              </a:buClr>
              <a:buFont typeface="Wingdings" panose="05000000000000000000" pitchFamily="2" charset="2"/>
              <a:buChar char=""/>
            </a:pPr>
            <a:r>
              <a:rPr lang="fr-FR" dirty="0" smtClean="0"/>
              <a:t>On-</a:t>
            </a:r>
            <a:r>
              <a:rPr lang="fr-FR" dirty="0" err="1" smtClean="0"/>
              <a:t>demand</a:t>
            </a:r>
            <a:r>
              <a:rPr lang="fr-FR" dirty="0" smtClean="0"/>
              <a:t>, online et flexibilité totale pour l’utilisateur final</a:t>
            </a:r>
          </a:p>
          <a:p>
            <a:pPr marL="285750" indent="-285750">
              <a:buClr>
                <a:srgbClr val="FF0000"/>
              </a:buClr>
              <a:buFont typeface="Wingdings" panose="05000000000000000000" pitchFamily="2" charset="2"/>
              <a:buChar char=""/>
            </a:pPr>
            <a:r>
              <a:rPr lang="fr-FR" dirty="0" smtClean="0"/>
              <a:t>Adoption IEJP par l’utilisateur final</a:t>
            </a:r>
          </a:p>
          <a:p>
            <a:pPr marL="285750" indent="-285750">
              <a:buClr>
                <a:srgbClr val="FF0000"/>
              </a:buClr>
              <a:buFont typeface="Wingdings" panose="05000000000000000000" pitchFamily="2" charset="2"/>
              <a:buChar char=""/>
            </a:pPr>
            <a:r>
              <a:rPr lang="fr-FR" dirty="0" smtClean="0"/>
              <a:t>Développement technique++ </a:t>
            </a:r>
            <a:br>
              <a:rPr lang="fr-FR" dirty="0" smtClean="0"/>
            </a:br>
            <a:r>
              <a:rPr lang="fr-FR" dirty="0" smtClean="0"/>
              <a:t>(API, PDN </a:t>
            </a:r>
            <a:r>
              <a:rPr lang="fr-FR" i="1" dirty="0" smtClean="0"/>
              <a:t>Not</a:t>
            </a:r>
            <a:r>
              <a:rPr lang="fr-FR" dirty="0" smtClean="0"/>
              <a:t> </a:t>
            </a:r>
            <a:r>
              <a:rPr lang="fr-FR" dirty="0" err="1" smtClean="0"/>
              <a:t>ready</a:t>
            </a:r>
            <a:r>
              <a:rPr lang="fr-FR" dirty="0" smtClean="0"/>
              <a:t>)</a:t>
            </a:r>
          </a:p>
          <a:p>
            <a:pPr marL="285750" indent="-285750">
              <a:buClr>
                <a:srgbClr val="FF0000"/>
              </a:buClr>
              <a:buFont typeface="Wingdings" panose="05000000000000000000" pitchFamily="2" charset="2"/>
              <a:buChar char=""/>
            </a:pPr>
            <a:r>
              <a:rPr lang="fr-FR" dirty="0" smtClean="0"/>
              <a:t>Inventaire à mettre à jour dans sa totalité</a:t>
            </a:r>
          </a:p>
          <a:p>
            <a:pPr marL="285750" indent="-285750">
              <a:buClr>
                <a:srgbClr val="FF0000"/>
              </a:buClr>
              <a:buFont typeface="Wingdings" panose="05000000000000000000" pitchFamily="2" charset="2"/>
              <a:buChar char=""/>
            </a:pPr>
            <a:r>
              <a:rPr lang="fr-FR" dirty="0" smtClean="0"/>
              <a:t>Ergonomie des fiches à revoir</a:t>
            </a:r>
          </a:p>
          <a:p>
            <a:pPr marL="285750" indent="-285750">
              <a:buClr>
                <a:srgbClr val="FF0000"/>
              </a:buClr>
              <a:buFont typeface="Wingdings" panose="05000000000000000000" pitchFamily="2" charset="2"/>
              <a:buChar char=""/>
            </a:pPr>
            <a:r>
              <a:rPr lang="fr-FR" dirty="0" smtClean="0"/>
              <a:t>Support opérationnel PDN (continuité de service, mise à jour, sécurité, etc..)</a:t>
            </a:r>
          </a:p>
          <a:p>
            <a:pPr marL="285750" indent="-285750">
              <a:buClr>
                <a:schemeClr val="accent6">
                  <a:lumMod val="75000"/>
                </a:schemeClr>
              </a:buClr>
              <a:buFont typeface="Wingdings" panose="05000000000000000000" pitchFamily="2" charset="2"/>
              <a:buChar char=""/>
            </a:pPr>
            <a:r>
              <a:rPr lang="fr-FR" dirty="0" smtClean="0"/>
              <a:t>Visibilité++ IEJP</a:t>
            </a:r>
          </a:p>
          <a:p>
            <a:pPr marL="285750" indent="-285750">
              <a:buFontTx/>
              <a:buChar char="-"/>
            </a:pPr>
            <a:endParaRPr lang="fr-FR" dirty="0"/>
          </a:p>
          <a:p>
            <a:pPr algn="ctr"/>
            <a:r>
              <a:rPr lang="fr-FR" dirty="0" smtClean="0">
                <a:sym typeface="Wingdings" panose="05000000000000000000" pitchFamily="2" charset="2"/>
              </a:rPr>
              <a:t> </a:t>
            </a:r>
            <a:r>
              <a:rPr lang="fr-FR" dirty="0" smtClean="0"/>
              <a:t>Scenario très exigeant peu réaliste</a:t>
            </a:r>
            <a:endParaRPr lang="fr-FR" dirty="0"/>
          </a:p>
        </p:txBody>
      </p:sp>
      <p:pic>
        <p:nvPicPr>
          <p:cNvPr id="38" name="Image 37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604099" y="1698796"/>
            <a:ext cx="5391150" cy="2105025"/>
          </a:xfrm>
          <a:prstGeom prst="rect">
            <a:avLst/>
          </a:prstGeom>
        </p:spPr>
      </p:pic>
      <p:grpSp>
        <p:nvGrpSpPr>
          <p:cNvPr id="44" name="Groupe 43"/>
          <p:cNvGrpSpPr/>
          <p:nvPr/>
        </p:nvGrpSpPr>
        <p:grpSpPr>
          <a:xfrm>
            <a:off x="5833145" y="4226790"/>
            <a:ext cx="2368760" cy="2506834"/>
            <a:chOff x="5833145" y="4226790"/>
            <a:chExt cx="2368760" cy="2506834"/>
          </a:xfrm>
        </p:grpSpPr>
        <p:pic>
          <p:nvPicPr>
            <p:cNvPr id="45" name="Image 44"/>
            <p:cNvPicPr>
              <a:picLocks noChangeAspect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348657" y="5707593"/>
              <a:ext cx="602818" cy="967233"/>
            </a:xfrm>
            <a:prstGeom prst="rect">
              <a:avLst/>
            </a:prstGeom>
          </p:spPr>
        </p:pic>
        <p:pic>
          <p:nvPicPr>
            <p:cNvPr id="46" name="Image 45"/>
            <p:cNvPicPr>
              <a:picLocks noChangeAspect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833145" y="5295081"/>
              <a:ext cx="1268124" cy="677434"/>
            </a:xfrm>
            <a:prstGeom prst="rect">
              <a:avLst/>
            </a:prstGeom>
          </p:spPr>
        </p:pic>
        <p:pic>
          <p:nvPicPr>
            <p:cNvPr id="47" name="Image 46"/>
            <p:cNvPicPr>
              <a:picLocks noChangeAspect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252744" y="4599889"/>
              <a:ext cx="1949161" cy="656453"/>
            </a:xfrm>
            <a:prstGeom prst="rect">
              <a:avLst/>
            </a:prstGeom>
          </p:spPr>
        </p:pic>
        <p:sp>
          <p:nvSpPr>
            <p:cNvPr id="48" name="ZoneTexte 47"/>
            <p:cNvSpPr txBox="1"/>
            <p:nvPr/>
          </p:nvSpPr>
          <p:spPr>
            <a:xfrm>
              <a:off x="5918445" y="4226790"/>
              <a:ext cx="2096087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fr-FR" sz="1600" dirty="0" smtClean="0"/>
                <a:t>Fournisseur traces GPX</a:t>
              </a:r>
            </a:p>
          </p:txBody>
        </p:sp>
        <p:pic>
          <p:nvPicPr>
            <p:cNvPr id="49" name="Image 48"/>
            <p:cNvPicPr>
              <a:picLocks noChangeAspect="1"/>
            </p:cNvPicPr>
            <p:nvPr/>
          </p:nvPicPr>
          <p:blipFill>
            <a:blip r:embed="rId1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258774" y="6043881"/>
              <a:ext cx="689743" cy="68974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7819907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3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7"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Arc 13"/>
          <p:cNvSpPr/>
          <p:nvPr/>
        </p:nvSpPr>
        <p:spPr>
          <a:xfrm rot="20973310">
            <a:off x="6910807" y="2647002"/>
            <a:ext cx="598439" cy="1522902"/>
          </a:xfrm>
          <a:custGeom>
            <a:avLst/>
            <a:gdLst>
              <a:gd name="connsiteX0" fmla="*/ 481804 w 963608"/>
              <a:gd name="connsiteY0" fmla="*/ 0 h 1519145"/>
              <a:gd name="connsiteX1" fmla="*/ 952973 w 963608"/>
              <a:gd name="connsiteY1" fmla="*/ 600865 h 1519145"/>
              <a:gd name="connsiteX2" fmla="*/ 851681 w 963608"/>
              <a:gd name="connsiteY2" fmla="*/ 1246321 h 1519145"/>
              <a:gd name="connsiteX3" fmla="*/ 481804 w 963608"/>
              <a:gd name="connsiteY3" fmla="*/ 759573 h 1519145"/>
              <a:gd name="connsiteX4" fmla="*/ 481804 w 963608"/>
              <a:gd name="connsiteY4" fmla="*/ 0 h 1519145"/>
              <a:gd name="connsiteX0" fmla="*/ 481804 w 963608"/>
              <a:gd name="connsiteY0" fmla="*/ 0 h 1519145"/>
              <a:gd name="connsiteX1" fmla="*/ 952973 w 963608"/>
              <a:gd name="connsiteY1" fmla="*/ 600865 h 1519145"/>
              <a:gd name="connsiteX2" fmla="*/ 851681 w 963608"/>
              <a:gd name="connsiteY2" fmla="*/ 1246321 h 1519145"/>
              <a:gd name="connsiteX0" fmla="*/ 0 w 481808"/>
              <a:gd name="connsiteY0" fmla="*/ 0 h 1246321"/>
              <a:gd name="connsiteX1" fmla="*/ 471169 w 481808"/>
              <a:gd name="connsiteY1" fmla="*/ 600865 h 1246321"/>
              <a:gd name="connsiteX2" fmla="*/ 369877 w 481808"/>
              <a:gd name="connsiteY2" fmla="*/ 1246321 h 1246321"/>
              <a:gd name="connsiteX3" fmla="*/ 0 w 481808"/>
              <a:gd name="connsiteY3" fmla="*/ 759573 h 1246321"/>
              <a:gd name="connsiteX4" fmla="*/ 0 w 481808"/>
              <a:gd name="connsiteY4" fmla="*/ 0 h 1246321"/>
              <a:gd name="connsiteX0" fmla="*/ 167302 w 481808"/>
              <a:gd name="connsiteY0" fmla="*/ 30841 h 1246321"/>
              <a:gd name="connsiteX1" fmla="*/ 471169 w 481808"/>
              <a:gd name="connsiteY1" fmla="*/ 600865 h 1246321"/>
              <a:gd name="connsiteX2" fmla="*/ 369877 w 481808"/>
              <a:gd name="connsiteY2" fmla="*/ 1246321 h 1246321"/>
              <a:gd name="connsiteX0" fmla="*/ 0 w 481808"/>
              <a:gd name="connsiteY0" fmla="*/ 0 h 1246321"/>
              <a:gd name="connsiteX1" fmla="*/ 471169 w 481808"/>
              <a:gd name="connsiteY1" fmla="*/ 600865 h 1246321"/>
              <a:gd name="connsiteX2" fmla="*/ 369877 w 481808"/>
              <a:gd name="connsiteY2" fmla="*/ 1246321 h 1246321"/>
              <a:gd name="connsiteX3" fmla="*/ 0 w 481808"/>
              <a:gd name="connsiteY3" fmla="*/ 759573 h 1246321"/>
              <a:gd name="connsiteX4" fmla="*/ 0 w 481808"/>
              <a:gd name="connsiteY4" fmla="*/ 0 h 1246321"/>
              <a:gd name="connsiteX0" fmla="*/ 167302 w 481808"/>
              <a:gd name="connsiteY0" fmla="*/ 30841 h 1246321"/>
              <a:gd name="connsiteX1" fmla="*/ 471169 w 481808"/>
              <a:gd name="connsiteY1" fmla="*/ 600865 h 1246321"/>
              <a:gd name="connsiteX2" fmla="*/ 369877 w 481808"/>
              <a:gd name="connsiteY2" fmla="*/ 1246321 h 1246321"/>
              <a:gd name="connsiteX0" fmla="*/ 0 w 515567"/>
              <a:gd name="connsiteY0" fmla="*/ 0 h 1447210"/>
              <a:gd name="connsiteX1" fmla="*/ 471169 w 515567"/>
              <a:gd name="connsiteY1" fmla="*/ 600865 h 1447210"/>
              <a:gd name="connsiteX2" fmla="*/ 369877 w 515567"/>
              <a:gd name="connsiteY2" fmla="*/ 1246321 h 1447210"/>
              <a:gd name="connsiteX3" fmla="*/ 0 w 515567"/>
              <a:gd name="connsiteY3" fmla="*/ 759573 h 1447210"/>
              <a:gd name="connsiteX4" fmla="*/ 0 w 515567"/>
              <a:gd name="connsiteY4" fmla="*/ 0 h 1447210"/>
              <a:gd name="connsiteX0" fmla="*/ 167302 w 515567"/>
              <a:gd name="connsiteY0" fmla="*/ 30841 h 1447210"/>
              <a:gd name="connsiteX1" fmla="*/ 471169 w 515567"/>
              <a:gd name="connsiteY1" fmla="*/ 600865 h 1447210"/>
              <a:gd name="connsiteX2" fmla="*/ 462585 w 515567"/>
              <a:gd name="connsiteY2" fmla="*/ 1447210 h 1447210"/>
              <a:gd name="connsiteX0" fmla="*/ 0 w 491535"/>
              <a:gd name="connsiteY0" fmla="*/ 0 h 1447210"/>
              <a:gd name="connsiteX1" fmla="*/ 471169 w 491535"/>
              <a:gd name="connsiteY1" fmla="*/ 600865 h 1447210"/>
              <a:gd name="connsiteX2" fmla="*/ 369877 w 491535"/>
              <a:gd name="connsiteY2" fmla="*/ 1246321 h 1447210"/>
              <a:gd name="connsiteX3" fmla="*/ 0 w 491535"/>
              <a:gd name="connsiteY3" fmla="*/ 759573 h 1447210"/>
              <a:gd name="connsiteX4" fmla="*/ 0 w 491535"/>
              <a:gd name="connsiteY4" fmla="*/ 0 h 1447210"/>
              <a:gd name="connsiteX0" fmla="*/ 167302 w 491535"/>
              <a:gd name="connsiteY0" fmla="*/ 30841 h 1447210"/>
              <a:gd name="connsiteX1" fmla="*/ 471169 w 491535"/>
              <a:gd name="connsiteY1" fmla="*/ 600865 h 1447210"/>
              <a:gd name="connsiteX2" fmla="*/ 462585 w 491535"/>
              <a:gd name="connsiteY2" fmla="*/ 1447210 h 14472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91535" h="1447210" stroke="0" extrusionOk="0">
                <a:moveTo>
                  <a:pt x="0" y="0"/>
                </a:moveTo>
                <a:cubicBezTo>
                  <a:pt x="227297" y="0"/>
                  <a:pt x="423677" y="250436"/>
                  <a:pt x="471169" y="600865"/>
                </a:cubicBezTo>
                <a:cubicBezTo>
                  <a:pt x="502104" y="829125"/>
                  <a:pt x="464753" y="1067133"/>
                  <a:pt x="369877" y="1246321"/>
                </a:cubicBezTo>
                <a:lnTo>
                  <a:pt x="0" y="759573"/>
                </a:lnTo>
                <a:lnTo>
                  <a:pt x="0" y="0"/>
                </a:lnTo>
                <a:close/>
              </a:path>
              <a:path w="491535" h="1447210" fill="none">
                <a:moveTo>
                  <a:pt x="167302" y="30841"/>
                </a:moveTo>
                <a:cubicBezTo>
                  <a:pt x="394018" y="268591"/>
                  <a:pt x="423677" y="250436"/>
                  <a:pt x="471169" y="600865"/>
                </a:cubicBezTo>
                <a:cubicBezTo>
                  <a:pt x="502104" y="829125"/>
                  <a:pt x="496651" y="1246000"/>
                  <a:pt x="462585" y="1447210"/>
                </a:cubicBezTo>
              </a:path>
            </a:pathLst>
          </a:custGeom>
          <a:ln w="19050">
            <a:solidFill>
              <a:schemeClr val="accent6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37" name="Image 3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6691" y="3677026"/>
            <a:ext cx="1020088" cy="869203"/>
          </a:xfrm>
          <a:prstGeom prst="rect">
            <a:avLst/>
          </a:prstGeom>
        </p:spPr>
      </p:pic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28963" y="226967"/>
            <a:ext cx="11221075" cy="1325563"/>
          </a:xfrm>
        </p:spPr>
        <p:txBody>
          <a:bodyPr>
            <a:normAutofit/>
          </a:bodyPr>
          <a:lstStyle/>
          <a:p>
            <a:r>
              <a:rPr lang="fr-FR" sz="3200" dirty="0" smtClean="0">
                <a:solidFill>
                  <a:srgbClr val="00B050"/>
                </a:solidFill>
              </a:rPr>
              <a:t>Architecture de service N°2 - </a:t>
            </a:r>
            <a:r>
              <a:rPr lang="fr-FR" sz="3200" dirty="0" smtClean="0">
                <a:solidFill>
                  <a:srgbClr val="00B050"/>
                </a:solidFill>
              </a:rPr>
              <a:t>Délégation de la distribution des </a:t>
            </a:r>
            <a:r>
              <a:rPr lang="fr-FR" sz="3200" dirty="0" err="1" smtClean="0">
                <a:solidFill>
                  <a:srgbClr val="00B050"/>
                </a:solidFill>
              </a:rPr>
              <a:t>POIs</a:t>
            </a:r>
            <a:endParaRPr lang="fr-FR" sz="3200" dirty="0">
              <a:solidFill>
                <a:srgbClr val="00B050"/>
              </a:solidFill>
            </a:endParaRPr>
          </a:p>
        </p:txBody>
      </p:sp>
      <p:pic>
        <p:nvPicPr>
          <p:cNvPr id="7" name="Imag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60824" y="2108845"/>
            <a:ext cx="1460414" cy="485171"/>
          </a:xfrm>
          <a:prstGeom prst="rect">
            <a:avLst/>
          </a:prstGeom>
          <a:ln>
            <a:solidFill>
              <a:schemeClr val="accent6">
                <a:lumMod val="75000"/>
              </a:schemeClr>
            </a:solidFill>
          </a:ln>
        </p:spPr>
      </p:pic>
      <p:grpSp>
        <p:nvGrpSpPr>
          <p:cNvPr id="12" name="Groupe 11"/>
          <p:cNvGrpSpPr/>
          <p:nvPr/>
        </p:nvGrpSpPr>
        <p:grpSpPr>
          <a:xfrm>
            <a:off x="3379316" y="1914826"/>
            <a:ext cx="708387" cy="1211764"/>
            <a:chOff x="4293716" y="2150076"/>
            <a:chExt cx="708387" cy="1211764"/>
          </a:xfrm>
        </p:grpSpPr>
        <p:pic>
          <p:nvPicPr>
            <p:cNvPr id="6" name="Image 5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293716" y="2150076"/>
              <a:ext cx="708387" cy="873210"/>
            </a:xfrm>
            <a:prstGeom prst="rect">
              <a:avLst/>
            </a:prstGeom>
          </p:spPr>
        </p:pic>
        <p:sp>
          <p:nvSpPr>
            <p:cNvPr id="10" name="ZoneTexte 9"/>
            <p:cNvSpPr txBox="1"/>
            <p:nvPr/>
          </p:nvSpPr>
          <p:spPr>
            <a:xfrm>
              <a:off x="4293716" y="3023286"/>
              <a:ext cx="550151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1600" dirty="0" smtClean="0"/>
                <a:t>PDN</a:t>
              </a:r>
              <a:endParaRPr lang="fr-FR" sz="1600" dirty="0"/>
            </a:p>
          </p:txBody>
        </p:sp>
      </p:grpSp>
      <p:grpSp>
        <p:nvGrpSpPr>
          <p:cNvPr id="13" name="Groupe 12"/>
          <p:cNvGrpSpPr/>
          <p:nvPr/>
        </p:nvGrpSpPr>
        <p:grpSpPr>
          <a:xfrm>
            <a:off x="518894" y="4337897"/>
            <a:ext cx="2161874" cy="1774871"/>
            <a:chOff x="1433294" y="4573147"/>
            <a:chExt cx="2161874" cy="1774871"/>
          </a:xfrm>
        </p:grpSpPr>
        <p:pic>
          <p:nvPicPr>
            <p:cNvPr id="5" name="Image 4"/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911072" y="4573147"/>
              <a:ext cx="1206319" cy="1222547"/>
            </a:xfrm>
            <a:prstGeom prst="rect">
              <a:avLst/>
            </a:prstGeom>
          </p:spPr>
        </p:pic>
        <p:sp>
          <p:nvSpPr>
            <p:cNvPr id="11" name="ZoneTexte 10"/>
            <p:cNvSpPr txBox="1"/>
            <p:nvPr/>
          </p:nvSpPr>
          <p:spPr>
            <a:xfrm>
              <a:off x="1433294" y="5763243"/>
              <a:ext cx="2161874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fr-FR" sz="1600" dirty="0" smtClean="0"/>
                <a:t>Utilisateur final</a:t>
              </a:r>
            </a:p>
            <a:p>
              <a:pPr algn="ctr"/>
              <a:r>
                <a:rPr lang="fr-FR" sz="1600" dirty="0" smtClean="0"/>
                <a:t>en situation de mobilité</a:t>
              </a:r>
              <a:endParaRPr lang="fr-FR" sz="1600" dirty="0"/>
            </a:p>
          </p:txBody>
        </p:sp>
      </p:grpSp>
      <p:pic>
        <p:nvPicPr>
          <p:cNvPr id="16" name="Image 15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7215" y="1942713"/>
            <a:ext cx="1458913" cy="906062"/>
          </a:xfrm>
          <a:prstGeom prst="rect">
            <a:avLst/>
          </a:prstGeom>
        </p:spPr>
      </p:pic>
      <p:grpSp>
        <p:nvGrpSpPr>
          <p:cNvPr id="18" name="Groupe 17"/>
          <p:cNvGrpSpPr/>
          <p:nvPr/>
        </p:nvGrpSpPr>
        <p:grpSpPr>
          <a:xfrm>
            <a:off x="2410691" y="4673597"/>
            <a:ext cx="3509818" cy="374353"/>
            <a:chOff x="3325091" y="4908847"/>
            <a:chExt cx="3509818" cy="374353"/>
          </a:xfrm>
        </p:grpSpPr>
        <p:cxnSp>
          <p:nvCxnSpPr>
            <p:cNvPr id="15" name="Connecteur droit avec flèche 14"/>
            <p:cNvCxnSpPr/>
            <p:nvPr/>
          </p:nvCxnSpPr>
          <p:spPr>
            <a:xfrm flipH="1">
              <a:off x="3325091" y="5264727"/>
              <a:ext cx="3509818" cy="18473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ZoneTexte 16"/>
            <p:cNvSpPr txBox="1"/>
            <p:nvPr/>
          </p:nvSpPr>
          <p:spPr>
            <a:xfrm>
              <a:off x="4460086" y="4908847"/>
              <a:ext cx="1808893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1600" dirty="0" smtClean="0">
                  <a:sym typeface="Wingdings" panose="05000000000000000000" pitchFamily="2" charset="2"/>
                </a:rPr>
                <a:t> Trace GPX + </a:t>
              </a:r>
              <a:r>
                <a:rPr lang="fr-FR" sz="1600" u="sng" dirty="0" err="1">
                  <a:solidFill>
                    <a:srgbClr val="0070C0"/>
                  </a:solidFill>
                  <a:sym typeface="Wingdings" panose="05000000000000000000" pitchFamily="2" charset="2"/>
                </a:rPr>
                <a:t>POIs</a:t>
              </a:r>
              <a:endParaRPr lang="fr-FR" sz="1600" dirty="0"/>
            </a:p>
          </p:txBody>
        </p:sp>
      </p:grpSp>
      <p:sp>
        <p:nvSpPr>
          <p:cNvPr id="27" name="ZoneTexte 26"/>
          <p:cNvSpPr txBox="1"/>
          <p:nvPr/>
        </p:nvSpPr>
        <p:spPr>
          <a:xfrm>
            <a:off x="0" y="6579736"/>
            <a:ext cx="200689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400" dirty="0" smtClean="0"/>
              <a:t>(*) POI : Point Of </a:t>
            </a:r>
            <a:r>
              <a:rPr lang="fr-FR" sz="1400" dirty="0" err="1" smtClean="0"/>
              <a:t>Interest</a:t>
            </a:r>
            <a:endParaRPr lang="fr-FR" sz="1400" dirty="0"/>
          </a:p>
        </p:txBody>
      </p:sp>
      <p:grpSp>
        <p:nvGrpSpPr>
          <p:cNvPr id="32" name="Groupe 31"/>
          <p:cNvGrpSpPr/>
          <p:nvPr/>
        </p:nvGrpSpPr>
        <p:grpSpPr>
          <a:xfrm rot="2363161">
            <a:off x="4253286" y="2994971"/>
            <a:ext cx="2132111" cy="374353"/>
            <a:chOff x="3325091" y="4908847"/>
            <a:chExt cx="3509818" cy="374353"/>
          </a:xfrm>
        </p:grpSpPr>
        <p:cxnSp>
          <p:nvCxnSpPr>
            <p:cNvPr id="33" name="Connecteur droit avec flèche 32"/>
            <p:cNvCxnSpPr/>
            <p:nvPr/>
          </p:nvCxnSpPr>
          <p:spPr>
            <a:xfrm flipH="1">
              <a:off x="3325091" y="5264727"/>
              <a:ext cx="3509818" cy="18473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0" name="ZoneTexte 39"/>
            <p:cNvSpPr txBox="1"/>
            <p:nvPr/>
          </p:nvSpPr>
          <p:spPr>
            <a:xfrm>
              <a:off x="3612342" y="4908847"/>
              <a:ext cx="2935314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1600" dirty="0" smtClean="0">
                  <a:sym typeface="Wingdings" panose="05000000000000000000" pitchFamily="2" charset="2"/>
                </a:rPr>
                <a:t> </a:t>
              </a:r>
              <a:r>
                <a:rPr lang="fr-FR" sz="1600" dirty="0" err="1" smtClean="0">
                  <a:sym typeface="Wingdings" panose="05000000000000000000" pitchFamily="2" charset="2"/>
                </a:rPr>
                <a:t>POIs</a:t>
              </a:r>
              <a:r>
                <a:rPr lang="fr-FR" sz="1600" dirty="0" smtClean="0">
                  <a:sym typeface="Wingdings" panose="05000000000000000000" pitchFamily="2" charset="2"/>
                </a:rPr>
                <a:t> trace GPX ?</a:t>
              </a:r>
              <a:endParaRPr lang="fr-FR" sz="1600" dirty="0"/>
            </a:p>
          </p:txBody>
        </p:sp>
      </p:grpSp>
      <p:grpSp>
        <p:nvGrpSpPr>
          <p:cNvPr id="41" name="Groupe 40"/>
          <p:cNvGrpSpPr/>
          <p:nvPr/>
        </p:nvGrpSpPr>
        <p:grpSpPr>
          <a:xfrm rot="2367600">
            <a:off x="4059755" y="3341904"/>
            <a:ext cx="2074152" cy="338554"/>
            <a:chOff x="3316255" y="4991183"/>
            <a:chExt cx="3509818" cy="338554"/>
          </a:xfrm>
        </p:grpSpPr>
        <p:cxnSp>
          <p:nvCxnSpPr>
            <p:cNvPr id="42" name="Connecteur droit avec flèche 41"/>
            <p:cNvCxnSpPr/>
            <p:nvPr/>
          </p:nvCxnSpPr>
          <p:spPr>
            <a:xfrm flipH="1">
              <a:off x="3316255" y="5271800"/>
              <a:ext cx="3509818" cy="18473"/>
            </a:xfrm>
            <a:prstGeom prst="straightConnector1">
              <a:avLst/>
            </a:prstGeom>
            <a:ln w="12700">
              <a:solidFill>
                <a:schemeClr val="tx1"/>
              </a:solidFill>
              <a:headEnd type="triangl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3" name="ZoneTexte 42">
              <a:hlinkClick r:id="rId7"/>
            </p:cNvPr>
            <p:cNvSpPr txBox="1"/>
            <p:nvPr/>
          </p:nvSpPr>
          <p:spPr>
            <a:xfrm rot="21538134">
              <a:off x="4178389" y="4991183"/>
              <a:ext cx="1332406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1600" dirty="0" smtClean="0">
                  <a:sym typeface="Wingdings" panose="05000000000000000000" pitchFamily="2" charset="2"/>
                </a:rPr>
                <a:t> </a:t>
              </a:r>
              <a:r>
                <a:rPr lang="fr-FR" sz="1600" u="sng" dirty="0" err="1" smtClean="0">
                  <a:solidFill>
                    <a:srgbClr val="0070C0"/>
                  </a:solidFill>
                  <a:sym typeface="Wingdings" panose="05000000000000000000" pitchFamily="2" charset="2"/>
                </a:rPr>
                <a:t>POIs</a:t>
              </a:r>
              <a:endParaRPr lang="fr-FR" sz="1600" dirty="0"/>
            </a:p>
          </p:txBody>
        </p:sp>
      </p:grpSp>
      <p:cxnSp>
        <p:nvCxnSpPr>
          <p:cNvPr id="4" name="Connecteur droit avec flèche 3"/>
          <p:cNvCxnSpPr/>
          <p:nvPr/>
        </p:nvCxnSpPr>
        <p:spPr>
          <a:xfrm flipH="1">
            <a:off x="8563708" y="2169642"/>
            <a:ext cx="3516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4" name="Groupe 43"/>
          <p:cNvGrpSpPr/>
          <p:nvPr/>
        </p:nvGrpSpPr>
        <p:grpSpPr>
          <a:xfrm rot="19414030">
            <a:off x="1389579" y="3409607"/>
            <a:ext cx="2204673" cy="338554"/>
            <a:chOff x="3104229" y="4991192"/>
            <a:chExt cx="3730680" cy="338554"/>
          </a:xfrm>
        </p:grpSpPr>
        <p:cxnSp>
          <p:nvCxnSpPr>
            <p:cNvPr id="45" name="Connecteur droit avec flèche 44"/>
            <p:cNvCxnSpPr/>
            <p:nvPr/>
          </p:nvCxnSpPr>
          <p:spPr>
            <a:xfrm flipH="1">
              <a:off x="3325091" y="5264727"/>
              <a:ext cx="3509818" cy="18473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6" name="ZoneTexte 45">
              <a:hlinkClick r:id="rId7"/>
            </p:cNvPr>
            <p:cNvSpPr txBox="1"/>
            <p:nvPr/>
          </p:nvSpPr>
          <p:spPr>
            <a:xfrm rot="21538134">
              <a:off x="3104229" y="4991192"/>
              <a:ext cx="3480747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1600" dirty="0" smtClean="0">
                  <a:sym typeface="Wingdings" panose="05000000000000000000" pitchFamily="2" charset="2"/>
                </a:rPr>
                <a:t> </a:t>
              </a:r>
              <a:r>
                <a:rPr lang="fr-FR" sz="1600" dirty="0" err="1" smtClean="0">
                  <a:sym typeface="Wingdings" panose="05000000000000000000" pitchFamily="2" charset="2"/>
                </a:rPr>
                <a:t>Fiche</a:t>
              </a:r>
              <a:r>
                <a:rPr lang="fr-FR" sz="1600" baseline="-25000" dirty="0" err="1" smtClean="0">
                  <a:sym typeface="Wingdings" panose="05000000000000000000" pitchFamily="2" charset="2"/>
                </a:rPr>
                <a:t>POI</a:t>
              </a:r>
              <a:r>
                <a:rPr lang="fr-FR" sz="1600" dirty="0" smtClean="0">
                  <a:sym typeface="Wingdings" panose="05000000000000000000" pitchFamily="2" charset="2"/>
                </a:rPr>
                <a:t> on-</a:t>
              </a:r>
              <a:r>
                <a:rPr lang="fr-FR" sz="1600" dirty="0" err="1" smtClean="0">
                  <a:sym typeface="Wingdings" panose="05000000000000000000" pitchFamily="2" charset="2"/>
                </a:rPr>
                <a:t>demand</a:t>
              </a:r>
              <a:endParaRPr lang="fr-FR" sz="1600" dirty="0"/>
            </a:p>
          </p:txBody>
        </p:sp>
      </p:grpSp>
      <p:sp>
        <p:nvSpPr>
          <p:cNvPr id="47" name="ZoneTexte 46"/>
          <p:cNvSpPr txBox="1"/>
          <p:nvPr/>
        </p:nvSpPr>
        <p:spPr>
          <a:xfrm>
            <a:off x="8370277" y="1877704"/>
            <a:ext cx="3821723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Clr>
                <a:schemeClr val="accent6"/>
              </a:buClr>
              <a:buFont typeface="Wingdings" panose="05000000000000000000" pitchFamily="2" charset="2"/>
              <a:buChar char=""/>
            </a:pPr>
            <a:r>
              <a:rPr lang="fr-FR" dirty="0" smtClean="0"/>
              <a:t>Partenariat IEJP/fournisseurs GPX</a:t>
            </a:r>
          </a:p>
          <a:p>
            <a:pPr marL="285750" indent="-285750">
              <a:buClr>
                <a:schemeClr val="accent6"/>
              </a:buClr>
              <a:buFont typeface="Wingdings" panose="05000000000000000000" pitchFamily="2" charset="2"/>
              <a:buChar char=""/>
            </a:pPr>
            <a:r>
              <a:rPr lang="fr-FR" dirty="0" smtClean="0"/>
              <a:t>On-</a:t>
            </a:r>
            <a:r>
              <a:rPr lang="fr-FR" dirty="0" err="1" smtClean="0"/>
              <a:t>demand</a:t>
            </a:r>
            <a:r>
              <a:rPr lang="fr-FR" dirty="0" smtClean="0"/>
              <a:t> et online</a:t>
            </a:r>
          </a:p>
          <a:p>
            <a:pPr marL="285750" indent="-285750">
              <a:buClr>
                <a:schemeClr val="accent2"/>
              </a:buClr>
              <a:buFont typeface="Wingdings" panose="05000000000000000000" pitchFamily="2" charset="2"/>
              <a:buChar char=""/>
            </a:pPr>
            <a:r>
              <a:rPr lang="fr-FR" dirty="0" smtClean="0"/>
              <a:t>Flexibilité moindre pour l’utilisateur final</a:t>
            </a:r>
          </a:p>
          <a:p>
            <a:pPr marL="285750" indent="-285750">
              <a:buClr>
                <a:srgbClr val="FF0000"/>
              </a:buClr>
              <a:buFont typeface="Wingdings" panose="05000000000000000000" pitchFamily="2" charset="2"/>
              <a:buChar char=""/>
            </a:pPr>
            <a:r>
              <a:rPr lang="fr-FR" dirty="0" smtClean="0"/>
              <a:t>Développement technique++ </a:t>
            </a:r>
            <a:br>
              <a:rPr lang="fr-FR" dirty="0" smtClean="0"/>
            </a:br>
            <a:r>
              <a:rPr lang="fr-FR" dirty="0" smtClean="0"/>
              <a:t>(API, PDN </a:t>
            </a:r>
            <a:r>
              <a:rPr lang="fr-FR" i="1" dirty="0" smtClean="0"/>
              <a:t>Not</a:t>
            </a:r>
            <a:r>
              <a:rPr lang="fr-FR" dirty="0" smtClean="0"/>
              <a:t> </a:t>
            </a:r>
            <a:r>
              <a:rPr lang="fr-FR" dirty="0" err="1" smtClean="0"/>
              <a:t>ready</a:t>
            </a:r>
            <a:r>
              <a:rPr lang="fr-FR" dirty="0" smtClean="0"/>
              <a:t>)</a:t>
            </a:r>
          </a:p>
          <a:p>
            <a:pPr marL="285750" indent="-285750">
              <a:buClr>
                <a:srgbClr val="FF0000"/>
              </a:buClr>
              <a:buFont typeface="Wingdings" panose="05000000000000000000" pitchFamily="2" charset="2"/>
              <a:buChar char=""/>
            </a:pPr>
            <a:r>
              <a:rPr lang="fr-FR" dirty="0" smtClean="0"/>
              <a:t>Inventaire à mettre à jour dans sa totalité</a:t>
            </a:r>
          </a:p>
          <a:p>
            <a:pPr marL="285750" indent="-285750">
              <a:buClr>
                <a:srgbClr val="FF0000"/>
              </a:buClr>
              <a:buFont typeface="Wingdings" panose="05000000000000000000" pitchFamily="2" charset="2"/>
              <a:buChar char=""/>
            </a:pPr>
            <a:r>
              <a:rPr lang="fr-FR" dirty="0" smtClean="0"/>
              <a:t>Ergonomie des fiches à revoir</a:t>
            </a:r>
          </a:p>
          <a:p>
            <a:pPr marL="285750" indent="-285750">
              <a:buClr>
                <a:srgbClr val="FF0000"/>
              </a:buClr>
              <a:buFont typeface="Wingdings" panose="05000000000000000000" pitchFamily="2" charset="2"/>
              <a:buChar char=""/>
            </a:pPr>
            <a:r>
              <a:rPr lang="fr-FR" dirty="0" smtClean="0"/>
              <a:t>Support opérationnel PDN (continuité de service, mise à jour, sécurité, etc..)</a:t>
            </a:r>
          </a:p>
          <a:p>
            <a:pPr marL="285750" indent="-285750">
              <a:buFontTx/>
              <a:buChar char="-"/>
            </a:pPr>
            <a:endParaRPr lang="fr-FR" dirty="0"/>
          </a:p>
          <a:p>
            <a:pPr algn="ctr"/>
            <a:r>
              <a:rPr lang="fr-FR" dirty="0" smtClean="0">
                <a:sym typeface="Wingdings" panose="05000000000000000000" pitchFamily="2" charset="2"/>
              </a:rPr>
              <a:t> </a:t>
            </a:r>
            <a:r>
              <a:rPr lang="fr-FR" dirty="0" smtClean="0"/>
              <a:t>Scenario exigeant techniquement</a:t>
            </a:r>
            <a:endParaRPr lang="fr-FR" dirty="0"/>
          </a:p>
        </p:txBody>
      </p:sp>
      <p:pic>
        <p:nvPicPr>
          <p:cNvPr id="8" name="Image 7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31100" y="2862791"/>
            <a:ext cx="1557898" cy="1010679"/>
          </a:xfrm>
          <a:prstGeom prst="rect">
            <a:avLst/>
          </a:prstGeom>
        </p:spPr>
      </p:pic>
      <p:pic>
        <p:nvPicPr>
          <p:cNvPr id="38" name="Image 37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835525" y="1304051"/>
            <a:ext cx="5391150" cy="2105025"/>
          </a:xfrm>
          <a:prstGeom prst="rect">
            <a:avLst/>
          </a:prstGeom>
        </p:spPr>
      </p:pic>
      <p:grpSp>
        <p:nvGrpSpPr>
          <p:cNvPr id="48" name="Groupe 47"/>
          <p:cNvGrpSpPr/>
          <p:nvPr/>
        </p:nvGrpSpPr>
        <p:grpSpPr>
          <a:xfrm>
            <a:off x="5833145" y="4226790"/>
            <a:ext cx="2368760" cy="2506834"/>
            <a:chOff x="5833145" y="4226790"/>
            <a:chExt cx="2368760" cy="2506834"/>
          </a:xfrm>
        </p:grpSpPr>
        <p:pic>
          <p:nvPicPr>
            <p:cNvPr id="49" name="Image 48"/>
            <p:cNvPicPr>
              <a:picLocks noChangeAspect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348657" y="5707593"/>
              <a:ext cx="602818" cy="967233"/>
            </a:xfrm>
            <a:prstGeom prst="rect">
              <a:avLst/>
            </a:prstGeom>
          </p:spPr>
        </p:pic>
        <p:pic>
          <p:nvPicPr>
            <p:cNvPr id="50" name="Image 49"/>
            <p:cNvPicPr>
              <a:picLocks noChangeAspect="1"/>
            </p:cNvPicPr>
            <p:nvPr/>
          </p:nvPicPr>
          <p:blipFill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833145" y="5295081"/>
              <a:ext cx="1268124" cy="677434"/>
            </a:xfrm>
            <a:prstGeom prst="rect">
              <a:avLst/>
            </a:prstGeom>
          </p:spPr>
        </p:pic>
        <p:pic>
          <p:nvPicPr>
            <p:cNvPr id="51" name="Image 50"/>
            <p:cNvPicPr>
              <a:picLocks noChangeAspect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252744" y="4599889"/>
              <a:ext cx="1949161" cy="656453"/>
            </a:xfrm>
            <a:prstGeom prst="rect">
              <a:avLst/>
            </a:prstGeom>
          </p:spPr>
        </p:pic>
        <p:sp>
          <p:nvSpPr>
            <p:cNvPr id="52" name="ZoneTexte 51"/>
            <p:cNvSpPr txBox="1"/>
            <p:nvPr/>
          </p:nvSpPr>
          <p:spPr>
            <a:xfrm>
              <a:off x="5918445" y="4226790"/>
              <a:ext cx="2096087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fr-FR" sz="1600" dirty="0" smtClean="0"/>
                <a:t>Fournisseur traces GPX</a:t>
              </a:r>
            </a:p>
          </p:txBody>
        </p:sp>
        <p:pic>
          <p:nvPicPr>
            <p:cNvPr id="53" name="Image 52"/>
            <p:cNvPicPr>
              <a:picLocks noChangeAspect="1"/>
            </p:cNvPicPr>
            <p:nvPr/>
          </p:nvPicPr>
          <p:blipFill>
            <a:blip r:embed="rId1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258774" y="6043881"/>
              <a:ext cx="689743" cy="68974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5042858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3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7"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Arc 13"/>
          <p:cNvSpPr/>
          <p:nvPr/>
        </p:nvSpPr>
        <p:spPr>
          <a:xfrm rot="20973310">
            <a:off x="6910807" y="2647002"/>
            <a:ext cx="598439" cy="1522902"/>
          </a:xfrm>
          <a:custGeom>
            <a:avLst/>
            <a:gdLst>
              <a:gd name="connsiteX0" fmla="*/ 481804 w 963608"/>
              <a:gd name="connsiteY0" fmla="*/ 0 h 1519145"/>
              <a:gd name="connsiteX1" fmla="*/ 952973 w 963608"/>
              <a:gd name="connsiteY1" fmla="*/ 600865 h 1519145"/>
              <a:gd name="connsiteX2" fmla="*/ 851681 w 963608"/>
              <a:gd name="connsiteY2" fmla="*/ 1246321 h 1519145"/>
              <a:gd name="connsiteX3" fmla="*/ 481804 w 963608"/>
              <a:gd name="connsiteY3" fmla="*/ 759573 h 1519145"/>
              <a:gd name="connsiteX4" fmla="*/ 481804 w 963608"/>
              <a:gd name="connsiteY4" fmla="*/ 0 h 1519145"/>
              <a:gd name="connsiteX0" fmla="*/ 481804 w 963608"/>
              <a:gd name="connsiteY0" fmla="*/ 0 h 1519145"/>
              <a:gd name="connsiteX1" fmla="*/ 952973 w 963608"/>
              <a:gd name="connsiteY1" fmla="*/ 600865 h 1519145"/>
              <a:gd name="connsiteX2" fmla="*/ 851681 w 963608"/>
              <a:gd name="connsiteY2" fmla="*/ 1246321 h 1519145"/>
              <a:gd name="connsiteX0" fmla="*/ 0 w 481808"/>
              <a:gd name="connsiteY0" fmla="*/ 0 h 1246321"/>
              <a:gd name="connsiteX1" fmla="*/ 471169 w 481808"/>
              <a:gd name="connsiteY1" fmla="*/ 600865 h 1246321"/>
              <a:gd name="connsiteX2" fmla="*/ 369877 w 481808"/>
              <a:gd name="connsiteY2" fmla="*/ 1246321 h 1246321"/>
              <a:gd name="connsiteX3" fmla="*/ 0 w 481808"/>
              <a:gd name="connsiteY3" fmla="*/ 759573 h 1246321"/>
              <a:gd name="connsiteX4" fmla="*/ 0 w 481808"/>
              <a:gd name="connsiteY4" fmla="*/ 0 h 1246321"/>
              <a:gd name="connsiteX0" fmla="*/ 167302 w 481808"/>
              <a:gd name="connsiteY0" fmla="*/ 30841 h 1246321"/>
              <a:gd name="connsiteX1" fmla="*/ 471169 w 481808"/>
              <a:gd name="connsiteY1" fmla="*/ 600865 h 1246321"/>
              <a:gd name="connsiteX2" fmla="*/ 369877 w 481808"/>
              <a:gd name="connsiteY2" fmla="*/ 1246321 h 1246321"/>
              <a:gd name="connsiteX0" fmla="*/ 0 w 481808"/>
              <a:gd name="connsiteY0" fmla="*/ 0 h 1246321"/>
              <a:gd name="connsiteX1" fmla="*/ 471169 w 481808"/>
              <a:gd name="connsiteY1" fmla="*/ 600865 h 1246321"/>
              <a:gd name="connsiteX2" fmla="*/ 369877 w 481808"/>
              <a:gd name="connsiteY2" fmla="*/ 1246321 h 1246321"/>
              <a:gd name="connsiteX3" fmla="*/ 0 w 481808"/>
              <a:gd name="connsiteY3" fmla="*/ 759573 h 1246321"/>
              <a:gd name="connsiteX4" fmla="*/ 0 w 481808"/>
              <a:gd name="connsiteY4" fmla="*/ 0 h 1246321"/>
              <a:gd name="connsiteX0" fmla="*/ 167302 w 481808"/>
              <a:gd name="connsiteY0" fmla="*/ 30841 h 1246321"/>
              <a:gd name="connsiteX1" fmla="*/ 471169 w 481808"/>
              <a:gd name="connsiteY1" fmla="*/ 600865 h 1246321"/>
              <a:gd name="connsiteX2" fmla="*/ 369877 w 481808"/>
              <a:gd name="connsiteY2" fmla="*/ 1246321 h 1246321"/>
              <a:gd name="connsiteX0" fmla="*/ 0 w 515567"/>
              <a:gd name="connsiteY0" fmla="*/ 0 h 1447210"/>
              <a:gd name="connsiteX1" fmla="*/ 471169 w 515567"/>
              <a:gd name="connsiteY1" fmla="*/ 600865 h 1447210"/>
              <a:gd name="connsiteX2" fmla="*/ 369877 w 515567"/>
              <a:gd name="connsiteY2" fmla="*/ 1246321 h 1447210"/>
              <a:gd name="connsiteX3" fmla="*/ 0 w 515567"/>
              <a:gd name="connsiteY3" fmla="*/ 759573 h 1447210"/>
              <a:gd name="connsiteX4" fmla="*/ 0 w 515567"/>
              <a:gd name="connsiteY4" fmla="*/ 0 h 1447210"/>
              <a:gd name="connsiteX0" fmla="*/ 167302 w 515567"/>
              <a:gd name="connsiteY0" fmla="*/ 30841 h 1447210"/>
              <a:gd name="connsiteX1" fmla="*/ 471169 w 515567"/>
              <a:gd name="connsiteY1" fmla="*/ 600865 h 1447210"/>
              <a:gd name="connsiteX2" fmla="*/ 462585 w 515567"/>
              <a:gd name="connsiteY2" fmla="*/ 1447210 h 1447210"/>
              <a:gd name="connsiteX0" fmla="*/ 0 w 491535"/>
              <a:gd name="connsiteY0" fmla="*/ 0 h 1447210"/>
              <a:gd name="connsiteX1" fmla="*/ 471169 w 491535"/>
              <a:gd name="connsiteY1" fmla="*/ 600865 h 1447210"/>
              <a:gd name="connsiteX2" fmla="*/ 369877 w 491535"/>
              <a:gd name="connsiteY2" fmla="*/ 1246321 h 1447210"/>
              <a:gd name="connsiteX3" fmla="*/ 0 w 491535"/>
              <a:gd name="connsiteY3" fmla="*/ 759573 h 1447210"/>
              <a:gd name="connsiteX4" fmla="*/ 0 w 491535"/>
              <a:gd name="connsiteY4" fmla="*/ 0 h 1447210"/>
              <a:gd name="connsiteX0" fmla="*/ 167302 w 491535"/>
              <a:gd name="connsiteY0" fmla="*/ 30841 h 1447210"/>
              <a:gd name="connsiteX1" fmla="*/ 471169 w 491535"/>
              <a:gd name="connsiteY1" fmla="*/ 600865 h 1447210"/>
              <a:gd name="connsiteX2" fmla="*/ 462585 w 491535"/>
              <a:gd name="connsiteY2" fmla="*/ 1447210 h 14472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91535" h="1447210" stroke="0" extrusionOk="0">
                <a:moveTo>
                  <a:pt x="0" y="0"/>
                </a:moveTo>
                <a:cubicBezTo>
                  <a:pt x="227297" y="0"/>
                  <a:pt x="423677" y="250436"/>
                  <a:pt x="471169" y="600865"/>
                </a:cubicBezTo>
                <a:cubicBezTo>
                  <a:pt x="502104" y="829125"/>
                  <a:pt x="464753" y="1067133"/>
                  <a:pt x="369877" y="1246321"/>
                </a:cubicBezTo>
                <a:lnTo>
                  <a:pt x="0" y="759573"/>
                </a:lnTo>
                <a:lnTo>
                  <a:pt x="0" y="0"/>
                </a:lnTo>
                <a:close/>
              </a:path>
              <a:path w="491535" h="1447210" fill="none">
                <a:moveTo>
                  <a:pt x="167302" y="30841"/>
                </a:moveTo>
                <a:cubicBezTo>
                  <a:pt x="394018" y="268591"/>
                  <a:pt x="423677" y="250436"/>
                  <a:pt x="471169" y="600865"/>
                </a:cubicBezTo>
                <a:cubicBezTo>
                  <a:pt x="502104" y="829125"/>
                  <a:pt x="496651" y="1246000"/>
                  <a:pt x="462585" y="1447210"/>
                </a:cubicBezTo>
              </a:path>
            </a:pathLst>
          </a:custGeom>
          <a:ln w="19050">
            <a:solidFill>
              <a:schemeClr val="accent6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28964" y="226967"/>
            <a:ext cx="10515600" cy="1325563"/>
          </a:xfrm>
        </p:spPr>
        <p:txBody>
          <a:bodyPr>
            <a:normAutofit/>
          </a:bodyPr>
          <a:lstStyle/>
          <a:p>
            <a:r>
              <a:rPr lang="fr-FR" sz="3200" dirty="0" smtClean="0">
                <a:solidFill>
                  <a:srgbClr val="00B050"/>
                </a:solidFill>
              </a:rPr>
              <a:t>Architecture de service N°3 – </a:t>
            </a:r>
            <a:r>
              <a:rPr lang="fr-FR" sz="3200" dirty="0" err="1" smtClean="0">
                <a:solidFill>
                  <a:srgbClr val="00B050"/>
                </a:solidFill>
              </a:rPr>
              <a:t>Factory</a:t>
            </a:r>
            <a:r>
              <a:rPr lang="fr-FR" sz="3200" dirty="0" smtClean="0">
                <a:solidFill>
                  <a:srgbClr val="00B050"/>
                </a:solidFill>
              </a:rPr>
              <a:t> de </a:t>
            </a:r>
            <a:r>
              <a:rPr lang="fr-FR" sz="3200" dirty="0" err="1" smtClean="0">
                <a:solidFill>
                  <a:srgbClr val="00B050"/>
                </a:solidFill>
              </a:rPr>
              <a:t>POIs</a:t>
            </a:r>
            <a:endParaRPr lang="fr-FR" sz="3200" dirty="0">
              <a:solidFill>
                <a:srgbClr val="00B050"/>
              </a:solidFill>
            </a:endParaRPr>
          </a:p>
        </p:txBody>
      </p:sp>
      <p:pic>
        <p:nvPicPr>
          <p:cNvPr id="7" name="Imag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60824" y="2108845"/>
            <a:ext cx="1460414" cy="485171"/>
          </a:xfrm>
          <a:prstGeom prst="rect">
            <a:avLst/>
          </a:prstGeom>
          <a:ln>
            <a:solidFill>
              <a:schemeClr val="accent6">
                <a:lumMod val="75000"/>
              </a:schemeClr>
            </a:solidFill>
          </a:ln>
        </p:spPr>
      </p:pic>
      <p:grpSp>
        <p:nvGrpSpPr>
          <p:cNvPr id="12" name="Groupe 11"/>
          <p:cNvGrpSpPr/>
          <p:nvPr/>
        </p:nvGrpSpPr>
        <p:grpSpPr>
          <a:xfrm>
            <a:off x="3379316" y="1914826"/>
            <a:ext cx="708387" cy="1211764"/>
            <a:chOff x="4293716" y="2150076"/>
            <a:chExt cx="708387" cy="1211764"/>
          </a:xfrm>
        </p:grpSpPr>
        <p:pic>
          <p:nvPicPr>
            <p:cNvPr id="6" name="Image 5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293716" y="2150076"/>
              <a:ext cx="708387" cy="873210"/>
            </a:xfrm>
            <a:prstGeom prst="rect">
              <a:avLst/>
            </a:prstGeom>
          </p:spPr>
        </p:pic>
        <p:sp>
          <p:nvSpPr>
            <p:cNvPr id="10" name="ZoneTexte 9"/>
            <p:cNvSpPr txBox="1"/>
            <p:nvPr/>
          </p:nvSpPr>
          <p:spPr>
            <a:xfrm>
              <a:off x="4293716" y="3023286"/>
              <a:ext cx="550151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1600" dirty="0" smtClean="0"/>
                <a:t>PDN</a:t>
              </a:r>
              <a:endParaRPr lang="fr-FR" sz="1600" dirty="0"/>
            </a:p>
          </p:txBody>
        </p:sp>
      </p:grpSp>
      <p:grpSp>
        <p:nvGrpSpPr>
          <p:cNvPr id="13" name="Groupe 12"/>
          <p:cNvGrpSpPr/>
          <p:nvPr/>
        </p:nvGrpSpPr>
        <p:grpSpPr>
          <a:xfrm>
            <a:off x="518894" y="4337897"/>
            <a:ext cx="2161874" cy="1774871"/>
            <a:chOff x="1433294" y="4573147"/>
            <a:chExt cx="2161874" cy="1774871"/>
          </a:xfrm>
        </p:grpSpPr>
        <p:pic>
          <p:nvPicPr>
            <p:cNvPr id="5" name="Image 4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911072" y="4573147"/>
              <a:ext cx="1206319" cy="1222547"/>
            </a:xfrm>
            <a:prstGeom prst="rect">
              <a:avLst/>
            </a:prstGeom>
          </p:spPr>
        </p:pic>
        <p:sp>
          <p:nvSpPr>
            <p:cNvPr id="11" name="ZoneTexte 10"/>
            <p:cNvSpPr txBox="1"/>
            <p:nvPr/>
          </p:nvSpPr>
          <p:spPr>
            <a:xfrm>
              <a:off x="1433294" y="5763243"/>
              <a:ext cx="2161874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fr-FR" sz="1600" dirty="0" smtClean="0"/>
                <a:t>Utilisateur final</a:t>
              </a:r>
            </a:p>
            <a:p>
              <a:pPr algn="ctr"/>
              <a:r>
                <a:rPr lang="fr-FR" sz="1600" dirty="0" smtClean="0"/>
                <a:t>en situation de mobilité</a:t>
              </a:r>
              <a:endParaRPr lang="fr-FR" sz="1600" dirty="0"/>
            </a:p>
          </p:txBody>
        </p:sp>
      </p:grpSp>
      <p:pic>
        <p:nvPicPr>
          <p:cNvPr id="16" name="Image 15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7215" y="1942713"/>
            <a:ext cx="1458913" cy="906062"/>
          </a:xfrm>
          <a:prstGeom prst="rect">
            <a:avLst/>
          </a:prstGeom>
        </p:spPr>
      </p:pic>
      <p:grpSp>
        <p:nvGrpSpPr>
          <p:cNvPr id="18" name="Groupe 17"/>
          <p:cNvGrpSpPr/>
          <p:nvPr/>
        </p:nvGrpSpPr>
        <p:grpSpPr>
          <a:xfrm>
            <a:off x="2410691" y="4673597"/>
            <a:ext cx="3509818" cy="374353"/>
            <a:chOff x="3325091" y="4908847"/>
            <a:chExt cx="3509818" cy="374353"/>
          </a:xfrm>
        </p:grpSpPr>
        <p:cxnSp>
          <p:nvCxnSpPr>
            <p:cNvPr id="15" name="Connecteur droit avec flèche 14"/>
            <p:cNvCxnSpPr/>
            <p:nvPr/>
          </p:nvCxnSpPr>
          <p:spPr>
            <a:xfrm flipH="1">
              <a:off x="3325091" y="5264727"/>
              <a:ext cx="3509818" cy="18473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ZoneTexte 16"/>
            <p:cNvSpPr txBox="1"/>
            <p:nvPr/>
          </p:nvSpPr>
          <p:spPr>
            <a:xfrm>
              <a:off x="4460086" y="4908847"/>
              <a:ext cx="1808893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1600" dirty="0" smtClean="0">
                  <a:sym typeface="Wingdings" panose="05000000000000000000" pitchFamily="2" charset="2"/>
                </a:rPr>
                <a:t> Trace GPX + </a:t>
              </a:r>
              <a:r>
                <a:rPr lang="fr-FR" sz="1600" u="sng" dirty="0" err="1">
                  <a:solidFill>
                    <a:srgbClr val="0070C0"/>
                  </a:solidFill>
                  <a:sym typeface="Wingdings" panose="05000000000000000000" pitchFamily="2" charset="2"/>
                  <a:hlinkClick r:id="rId6"/>
                </a:rPr>
                <a:t>POIs</a:t>
              </a:r>
              <a:endParaRPr lang="fr-FR" sz="1600" dirty="0"/>
            </a:p>
          </p:txBody>
        </p:sp>
      </p:grpSp>
      <p:sp>
        <p:nvSpPr>
          <p:cNvPr id="27" name="ZoneTexte 26"/>
          <p:cNvSpPr txBox="1"/>
          <p:nvPr/>
        </p:nvSpPr>
        <p:spPr>
          <a:xfrm>
            <a:off x="0" y="6579736"/>
            <a:ext cx="200689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400" dirty="0" smtClean="0"/>
              <a:t>(*) POI : Point Of </a:t>
            </a:r>
            <a:r>
              <a:rPr lang="fr-FR" sz="1400" dirty="0" err="1" smtClean="0"/>
              <a:t>Interest</a:t>
            </a:r>
            <a:endParaRPr lang="fr-FR" sz="1400" dirty="0"/>
          </a:p>
        </p:txBody>
      </p:sp>
      <p:grpSp>
        <p:nvGrpSpPr>
          <p:cNvPr id="41" name="Groupe 40"/>
          <p:cNvGrpSpPr/>
          <p:nvPr/>
        </p:nvGrpSpPr>
        <p:grpSpPr>
          <a:xfrm rot="4517574">
            <a:off x="5281557" y="3239176"/>
            <a:ext cx="1577640" cy="338554"/>
            <a:chOff x="3316255" y="4991183"/>
            <a:chExt cx="3509818" cy="338554"/>
          </a:xfrm>
        </p:grpSpPr>
        <p:cxnSp>
          <p:nvCxnSpPr>
            <p:cNvPr id="42" name="Connecteur droit avec flèche 41"/>
            <p:cNvCxnSpPr/>
            <p:nvPr/>
          </p:nvCxnSpPr>
          <p:spPr>
            <a:xfrm flipH="1">
              <a:off x="3316255" y="5271800"/>
              <a:ext cx="3509818" cy="18473"/>
            </a:xfrm>
            <a:prstGeom prst="straightConnector1">
              <a:avLst/>
            </a:prstGeom>
            <a:ln w="12700">
              <a:solidFill>
                <a:srgbClr val="7030A0"/>
              </a:solidFill>
              <a:prstDash val="dash"/>
              <a:headEnd type="triangl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3" name="ZoneTexte 42">
              <a:hlinkClick r:id="rId7"/>
            </p:cNvPr>
            <p:cNvSpPr txBox="1"/>
            <p:nvPr/>
          </p:nvSpPr>
          <p:spPr>
            <a:xfrm rot="21496444">
              <a:off x="4178389" y="4991183"/>
              <a:ext cx="1332406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1600" dirty="0" smtClean="0">
                  <a:sym typeface="Wingdings" panose="05000000000000000000" pitchFamily="2" charset="2"/>
                </a:rPr>
                <a:t> </a:t>
              </a:r>
              <a:r>
                <a:rPr lang="fr-FR" sz="1600" u="sng" dirty="0" err="1" smtClean="0">
                  <a:solidFill>
                    <a:srgbClr val="0070C0"/>
                  </a:solidFill>
                  <a:sym typeface="Wingdings" panose="05000000000000000000" pitchFamily="2" charset="2"/>
                  <a:hlinkClick r:id="rId6"/>
                </a:rPr>
                <a:t>POIs</a:t>
              </a:r>
              <a:endParaRPr lang="fr-FR" sz="1600" dirty="0"/>
            </a:p>
          </p:txBody>
        </p:sp>
      </p:grpSp>
      <p:cxnSp>
        <p:nvCxnSpPr>
          <p:cNvPr id="4" name="Connecteur droit avec flèche 3"/>
          <p:cNvCxnSpPr/>
          <p:nvPr/>
        </p:nvCxnSpPr>
        <p:spPr>
          <a:xfrm flipH="1">
            <a:off x="8563708" y="2169642"/>
            <a:ext cx="3516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4" name="Groupe 43"/>
          <p:cNvGrpSpPr/>
          <p:nvPr/>
        </p:nvGrpSpPr>
        <p:grpSpPr>
          <a:xfrm rot="15110632">
            <a:off x="313049" y="3541259"/>
            <a:ext cx="1682512" cy="338554"/>
            <a:chOff x="2741853" y="4991192"/>
            <a:chExt cx="4205493" cy="338554"/>
          </a:xfrm>
        </p:grpSpPr>
        <p:cxnSp>
          <p:nvCxnSpPr>
            <p:cNvPr id="45" name="Connecteur droit avec flèche 44"/>
            <p:cNvCxnSpPr/>
            <p:nvPr/>
          </p:nvCxnSpPr>
          <p:spPr>
            <a:xfrm flipH="1">
              <a:off x="3325091" y="5264727"/>
              <a:ext cx="3509818" cy="18473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6" name="ZoneTexte 45">
              <a:hlinkClick r:id="rId7"/>
            </p:cNvPr>
            <p:cNvSpPr txBox="1"/>
            <p:nvPr/>
          </p:nvSpPr>
          <p:spPr>
            <a:xfrm rot="21538134">
              <a:off x="2741853" y="4991192"/>
              <a:ext cx="4205493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1600" dirty="0" smtClean="0">
                  <a:sym typeface="Wingdings" panose="05000000000000000000" pitchFamily="2" charset="2"/>
                </a:rPr>
                <a:t> Site </a:t>
              </a:r>
              <a:r>
                <a:rPr lang="fr-FR" sz="1600" dirty="0" err="1" smtClean="0">
                  <a:sym typeface="Wingdings" panose="05000000000000000000" pitchFamily="2" charset="2"/>
                </a:rPr>
                <a:t>internet</a:t>
              </a:r>
              <a:r>
                <a:rPr lang="fr-FR" sz="1600" baseline="-25000" dirty="0" err="1" smtClean="0">
                  <a:sym typeface="Wingdings" panose="05000000000000000000" pitchFamily="2" charset="2"/>
                </a:rPr>
                <a:t>POI</a:t>
              </a:r>
              <a:endParaRPr lang="fr-FR" sz="1600" dirty="0"/>
            </a:p>
          </p:txBody>
        </p:sp>
      </p:grpSp>
      <p:sp>
        <p:nvSpPr>
          <p:cNvPr id="47" name="ZoneTexte 46"/>
          <p:cNvSpPr txBox="1"/>
          <p:nvPr/>
        </p:nvSpPr>
        <p:spPr>
          <a:xfrm>
            <a:off x="8370277" y="1485814"/>
            <a:ext cx="3821723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Clr>
                <a:schemeClr val="accent6"/>
              </a:buClr>
              <a:buFont typeface="Wingdings" panose="05000000000000000000" pitchFamily="2" charset="2"/>
              <a:buChar char=""/>
            </a:pPr>
            <a:r>
              <a:rPr lang="fr-FR" dirty="0" smtClean="0"/>
              <a:t>Partenariat IEJP/fournisseurs GPX</a:t>
            </a:r>
          </a:p>
          <a:p>
            <a:pPr marL="285750" indent="-285750">
              <a:buClr>
                <a:schemeClr val="accent2"/>
              </a:buClr>
              <a:buFont typeface="Wingdings" panose="05000000000000000000" pitchFamily="2" charset="2"/>
              <a:buChar char=""/>
            </a:pPr>
            <a:r>
              <a:rPr lang="fr-FR" u="dash" dirty="0" smtClean="0">
                <a:uFill>
                  <a:solidFill>
                    <a:srgbClr val="7030A0"/>
                  </a:solidFill>
                </a:uFill>
              </a:rPr>
              <a:t>Offline et partiellement manuel</a:t>
            </a:r>
          </a:p>
          <a:p>
            <a:pPr marL="285750" indent="-285750">
              <a:buClr>
                <a:schemeClr val="accent2"/>
              </a:buClr>
              <a:buFont typeface="Wingdings" panose="05000000000000000000" pitchFamily="2" charset="2"/>
              <a:buChar char=""/>
            </a:pPr>
            <a:r>
              <a:rPr lang="fr-FR" dirty="0" smtClean="0"/>
              <a:t>Fiches inventaires identifiées à mettre à jour manuellement à la demande pour parer aux data obsolètes et/ou incomplètes</a:t>
            </a:r>
          </a:p>
          <a:p>
            <a:pPr marL="285750" indent="-285750">
              <a:buClr>
                <a:schemeClr val="accent2"/>
              </a:buClr>
              <a:buFont typeface="Wingdings" panose="05000000000000000000" pitchFamily="2" charset="2"/>
              <a:buChar char=""/>
            </a:pPr>
            <a:r>
              <a:rPr lang="fr-FR" dirty="0" smtClean="0"/>
              <a:t>Développement informatique réduit (identification des jardins le long d’un itinéraire GPX)</a:t>
            </a:r>
          </a:p>
          <a:p>
            <a:pPr marL="285750" indent="-285750">
              <a:buClr>
                <a:schemeClr val="accent6"/>
              </a:buClr>
              <a:buFont typeface="Wingdings" panose="05000000000000000000" pitchFamily="2" charset="2"/>
              <a:buChar char=""/>
            </a:pPr>
            <a:r>
              <a:rPr lang="fr-FR" dirty="0" smtClean="0"/>
              <a:t>Exigences moindres de support opérationnel PDN</a:t>
            </a:r>
          </a:p>
          <a:p>
            <a:pPr marL="285750" indent="-285750">
              <a:buClr>
                <a:srgbClr val="FF0000"/>
              </a:buClr>
              <a:buFont typeface="Wingdings" panose="05000000000000000000" pitchFamily="2" charset="2"/>
              <a:buChar char=""/>
            </a:pPr>
            <a:r>
              <a:rPr lang="fr-FR" dirty="0" smtClean="0"/>
              <a:t>Visibilité</a:t>
            </a:r>
            <a:r>
              <a:rPr lang="fr-FR" dirty="0" smtClean="0"/>
              <a:t>--</a:t>
            </a:r>
            <a:r>
              <a:rPr lang="fr-FR" dirty="0" smtClean="0"/>
              <a:t> </a:t>
            </a:r>
            <a:r>
              <a:rPr lang="fr-FR" dirty="0"/>
              <a:t>IEJP</a:t>
            </a:r>
          </a:p>
          <a:p>
            <a:pPr marL="285750" indent="-285750">
              <a:buFontTx/>
              <a:buChar char="-"/>
            </a:pPr>
            <a:endParaRPr lang="fr-FR" dirty="0"/>
          </a:p>
          <a:p>
            <a:pPr algn="ctr"/>
            <a:r>
              <a:rPr lang="fr-FR" dirty="0" smtClean="0">
                <a:sym typeface="Wingdings" panose="05000000000000000000" pitchFamily="2" charset="2"/>
              </a:rPr>
              <a:t> Le </a:t>
            </a:r>
            <a:r>
              <a:rPr lang="fr-FR" dirty="0" smtClean="0">
                <a:sym typeface="Wingdings" panose="05000000000000000000" pitchFamily="2" charset="2"/>
              </a:rPr>
              <a:t>s</a:t>
            </a:r>
            <a:r>
              <a:rPr lang="fr-FR" dirty="0" smtClean="0"/>
              <a:t>cenario </a:t>
            </a:r>
            <a:r>
              <a:rPr lang="fr-FR" dirty="0" smtClean="0"/>
              <a:t>crédible dans les conditions actuelles</a:t>
            </a:r>
            <a:endParaRPr lang="fr-FR" dirty="0"/>
          </a:p>
        </p:txBody>
      </p:sp>
      <p:pic>
        <p:nvPicPr>
          <p:cNvPr id="8" name="Image 7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31100" y="2862791"/>
            <a:ext cx="1557898" cy="1010679"/>
          </a:xfrm>
          <a:prstGeom prst="rect">
            <a:avLst/>
          </a:prstGeom>
        </p:spPr>
      </p:pic>
      <p:grpSp>
        <p:nvGrpSpPr>
          <p:cNvPr id="32" name="Groupe 31"/>
          <p:cNvGrpSpPr/>
          <p:nvPr/>
        </p:nvGrpSpPr>
        <p:grpSpPr>
          <a:xfrm rot="4572399">
            <a:off x="5644455" y="3150048"/>
            <a:ext cx="1562197" cy="374353"/>
            <a:chOff x="3325091" y="4908847"/>
            <a:chExt cx="3509818" cy="374353"/>
          </a:xfrm>
        </p:grpSpPr>
        <p:cxnSp>
          <p:nvCxnSpPr>
            <p:cNvPr id="33" name="Connecteur droit avec flèche 32"/>
            <p:cNvCxnSpPr/>
            <p:nvPr/>
          </p:nvCxnSpPr>
          <p:spPr>
            <a:xfrm flipH="1">
              <a:off x="3325091" y="5264727"/>
              <a:ext cx="3509818" cy="18473"/>
            </a:xfrm>
            <a:prstGeom prst="straightConnector1">
              <a:avLst/>
            </a:prstGeom>
            <a:ln w="12700">
              <a:solidFill>
                <a:srgbClr val="7030A0"/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0" name="ZoneTexte 39"/>
            <p:cNvSpPr txBox="1"/>
            <p:nvPr/>
          </p:nvSpPr>
          <p:spPr>
            <a:xfrm>
              <a:off x="3612342" y="4908847"/>
              <a:ext cx="2935314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1600" dirty="0" smtClean="0">
                  <a:sym typeface="Wingdings" panose="05000000000000000000" pitchFamily="2" charset="2"/>
                </a:rPr>
                <a:t> </a:t>
              </a:r>
              <a:r>
                <a:rPr lang="fr-FR" sz="1600" dirty="0" err="1" smtClean="0">
                  <a:sym typeface="Wingdings" panose="05000000000000000000" pitchFamily="2" charset="2"/>
                </a:rPr>
                <a:t>POIs</a:t>
              </a:r>
              <a:r>
                <a:rPr lang="fr-FR" sz="1600" dirty="0" smtClean="0">
                  <a:sym typeface="Wingdings" panose="05000000000000000000" pitchFamily="2" charset="2"/>
                </a:rPr>
                <a:t> trace GPX ?</a:t>
              </a:r>
              <a:endParaRPr lang="fr-FR" sz="1600" dirty="0"/>
            </a:p>
          </p:txBody>
        </p:sp>
      </p:grpSp>
      <p:pic>
        <p:nvPicPr>
          <p:cNvPr id="25" name="Image 24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3656" y="1179292"/>
            <a:ext cx="859088" cy="745490"/>
          </a:xfrm>
          <a:prstGeom prst="rect">
            <a:avLst/>
          </a:prstGeom>
        </p:spPr>
      </p:pic>
      <p:cxnSp>
        <p:nvCxnSpPr>
          <p:cNvPr id="28" name="Connecteur droit avec flèche 27"/>
          <p:cNvCxnSpPr/>
          <p:nvPr/>
        </p:nvCxnSpPr>
        <p:spPr>
          <a:xfrm>
            <a:off x="5942641" y="1913867"/>
            <a:ext cx="103793" cy="255773"/>
          </a:xfrm>
          <a:prstGeom prst="straightConnector1">
            <a:avLst/>
          </a:prstGeom>
          <a:ln>
            <a:solidFill>
              <a:srgbClr val="7030A0"/>
            </a:solidFill>
            <a:prstDash val="dash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Connecteur droit avec flèche 48"/>
          <p:cNvCxnSpPr/>
          <p:nvPr/>
        </p:nvCxnSpPr>
        <p:spPr>
          <a:xfrm flipV="1">
            <a:off x="4165600" y="2351430"/>
            <a:ext cx="1375884" cy="147811"/>
          </a:xfrm>
          <a:prstGeom prst="straightConnector1">
            <a:avLst/>
          </a:prstGeom>
          <a:ln>
            <a:solidFill>
              <a:srgbClr val="7030A0"/>
            </a:solidFill>
            <a:prstDash val="dash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8" name="Groupe 37"/>
          <p:cNvGrpSpPr/>
          <p:nvPr/>
        </p:nvGrpSpPr>
        <p:grpSpPr>
          <a:xfrm>
            <a:off x="5833145" y="4226790"/>
            <a:ext cx="2368760" cy="2506834"/>
            <a:chOff x="5833145" y="4226790"/>
            <a:chExt cx="2368760" cy="2506834"/>
          </a:xfrm>
        </p:grpSpPr>
        <p:pic>
          <p:nvPicPr>
            <p:cNvPr id="39" name="Image 38"/>
            <p:cNvPicPr>
              <a:picLocks noChangeAspect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348657" y="5707593"/>
              <a:ext cx="602818" cy="967233"/>
            </a:xfrm>
            <a:prstGeom prst="rect">
              <a:avLst/>
            </a:prstGeom>
          </p:spPr>
        </p:pic>
        <p:pic>
          <p:nvPicPr>
            <p:cNvPr id="50" name="Image 49"/>
            <p:cNvPicPr>
              <a:picLocks noChangeAspect="1"/>
            </p:cNvPicPr>
            <p:nvPr/>
          </p:nvPicPr>
          <p:blipFill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833145" y="5295081"/>
              <a:ext cx="1268124" cy="677434"/>
            </a:xfrm>
            <a:prstGeom prst="rect">
              <a:avLst/>
            </a:prstGeom>
          </p:spPr>
        </p:pic>
        <p:pic>
          <p:nvPicPr>
            <p:cNvPr id="51" name="Image 50"/>
            <p:cNvPicPr>
              <a:picLocks noChangeAspect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252744" y="4599889"/>
              <a:ext cx="1949161" cy="656453"/>
            </a:xfrm>
            <a:prstGeom prst="rect">
              <a:avLst/>
            </a:prstGeom>
          </p:spPr>
        </p:pic>
        <p:sp>
          <p:nvSpPr>
            <p:cNvPr id="52" name="ZoneTexte 51"/>
            <p:cNvSpPr txBox="1"/>
            <p:nvPr/>
          </p:nvSpPr>
          <p:spPr>
            <a:xfrm>
              <a:off x="5918445" y="4226790"/>
              <a:ext cx="2096087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fr-FR" sz="1600" dirty="0" smtClean="0"/>
                <a:t>Fournisseur traces GPX</a:t>
              </a:r>
            </a:p>
          </p:txBody>
        </p:sp>
        <p:pic>
          <p:nvPicPr>
            <p:cNvPr id="53" name="Image 52"/>
            <p:cNvPicPr>
              <a:picLocks noChangeAspect="1"/>
            </p:cNvPicPr>
            <p:nvPr/>
          </p:nvPicPr>
          <p:blipFill>
            <a:blip r:embed="rId1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258774" y="6043881"/>
              <a:ext cx="689743" cy="689743"/>
            </a:xfrm>
            <a:prstGeom prst="rect">
              <a:avLst/>
            </a:prstGeom>
          </p:spPr>
        </p:pic>
      </p:grpSp>
      <p:pic>
        <p:nvPicPr>
          <p:cNvPr id="55" name="Image 54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446680" y="3342723"/>
            <a:ext cx="824477" cy="659582"/>
          </a:xfrm>
          <a:prstGeom prst="rect">
            <a:avLst/>
          </a:prstGeom>
        </p:spPr>
      </p:pic>
      <p:pic>
        <p:nvPicPr>
          <p:cNvPr id="54" name="Image 53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410691" y="659472"/>
            <a:ext cx="5153592" cy="41228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20661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5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5"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Arc 13"/>
          <p:cNvSpPr/>
          <p:nvPr/>
        </p:nvSpPr>
        <p:spPr>
          <a:xfrm rot="20973310">
            <a:off x="6910807" y="2647002"/>
            <a:ext cx="598439" cy="1522902"/>
          </a:xfrm>
          <a:custGeom>
            <a:avLst/>
            <a:gdLst>
              <a:gd name="connsiteX0" fmla="*/ 481804 w 963608"/>
              <a:gd name="connsiteY0" fmla="*/ 0 h 1519145"/>
              <a:gd name="connsiteX1" fmla="*/ 952973 w 963608"/>
              <a:gd name="connsiteY1" fmla="*/ 600865 h 1519145"/>
              <a:gd name="connsiteX2" fmla="*/ 851681 w 963608"/>
              <a:gd name="connsiteY2" fmla="*/ 1246321 h 1519145"/>
              <a:gd name="connsiteX3" fmla="*/ 481804 w 963608"/>
              <a:gd name="connsiteY3" fmla="*/ 759573 h 1519145"/>
              <a:gd name="connsiteX4" fmla="*/ 481804 w 963608"/>
              <a:gd name="connsiteY4" fmla="*/ 0 h 1519145"/>
              <a:gd name="connsiteX0" fmla="*/ 481804 w 963608"/>
              <a:gd name="connsiteY0" fmla="*/ 0 h 1519145"/>
              <a:gd name="connsiteX1" fmla="*/ 952973 w 963608"/>
              <a:gd name="connsiteY1" fmla="*/ 600865 h 1519145"/>
              <a:gd name="connsiteX2" fmla="*/ 851681 w 963608"/>
              <a:gd name="connsiteY2" fmla="*/ 1246321 h 1519145"/>
              <a:gd name="connsiteX0" fmla="*/ 0 w 481808"/>
              <a:gd name="connsiteY0" fmla="*/ 0 h 1246321"/>
              <a:gd name="connsiteX1" fmla="*/ 471169 w 481808"/>
              <a:gd name="connsiteY1" fmla="*/ 600865 h 1246321"/>
              <a:gd name="connsiteX2" fmla="*/ 369877 w 481808"/>
              <a:gd name="connsiteY2" fmla="*/ 1246321 h 1246321"/>
              <a:gd name="connsiteX3" fmla="*/ 0 w 481808"/>
              <a:gd name="connsiteY3" fmla="*/ 759573 h 1246321"/>
              <a:gd name="connsiteX4" fmla="*/ 0 w 481808"/>
              <a:gd name="connsiteY4" fmla="*/ 0 h 1246321"/>
              <a:gd name="connsiteX0" fmla="*/ 167302 w 481808"/>
              <a:gd name="connsiteY0" fmla="*/ 30841 h 1246321"/>
              <a:gd name="connsiteX1" fmla="*/ 471169 w 481808"/>
              <a:gd name="connsiteY1" fmla="*/ 600865 h 1246321"/>
              <a:gd name="connsiteX2" fmla="*/ 369877 w 481808"/>
              <a:gd name="connsiteY2" fmla="*/ 1246321 h 1246321"/>
              <a:gd name="connsiteX0" fmla="*/ 0 w 481808"/>
              <a:gd name="connsiteY0" fmla="*/ 0 h 1246321"/>
              <a:gd name="connsiteX1" fmla="*/ 471169 w 481808"/>
              <a:gd name="connsiteY1" fmla="*/ 600865 h 1246321"/>
              <a:gd name="connsiteX2" fmla="*/ 369877 w 481808"/>
              <a:gd name="connsiteY2" fmla="*/ 1246321 h 1246321"/>
              <a:gd name="connsiteX3" fmla="*/ 0 w 481808"/>
              <a:gd name="connsiteY3" fmla="*/ 759573 h 1246321"/>
              <a:gd name="connsiteX4" fmla="*/ 0 w 481808"/>
              <a:gd name="connsiteY4" fmla="*/ 0 h 1246321"/>
              <a:gd name="connsiteX0" fmla="*/ 167302 w 481808"/>
              <a:gd name="connsiteY0" fmla="*/ 30841 h 1246321"/>
              <a:gd name="connsiteX1" fmla="*/ 471169 w 481808"/>
              <a:gd name="connsiteY1" fmla="*/ 600865 h 1246321"/>
              <a:gd name="connsiteX2" fmla="*/ 369877 w 481808"/>
              <a:gd name="connsiteY2" fmla="*/ 1246321 h 1246321"/>
              <a:gd name="connsiteX0" fmla="*/ 0 w 515567"/>
              <a:gd name="connsiteY0" fmla="*/ 0 h 1447210"/>
              <a:gd name="connsiteX1" fmla="*/ 471169 w 515567"/>
              <a:gd name="connsiteY1" fmla="*/ 600865 h 1447210"/>
              <a:gd name="connsiteX2" fmla="*/ 369877 w 515567"/>
              <a:gd name="connsiteY2" fmla="*/ 1246321 h 1447210"/>
              <a:gd name="connsiteX3" fmla="*/ 0 w 515567"/>
              <a:gd name="connsiteY3" fmla="*/ 759573 h 1447210"/>
              <a:gd name="connsiteX4" fmla="*/ 0 w 515567"/>
              <a:gd name="connsiteY4" fmla="*/ 0 h 1447210"/>
              <a:gd name="connsiteX0" fmla="*/ 167302 w 515567"/>
              <a:gd name="connsiteY0" fmla="*/ 30841 h 1447210"/>
              <a:gd name="connsiteX1" fmla="*/ 471169 w 515567"/>
              <a:gd name="connsiteY1" fmla="*/ 600865 h 1447210"/>
              <a:gd name="connsiteX2" fmla="*/ 462585 w 515567"/>
              <a:gd name="connsiteY2" fmla="*/ 1447210 h 1447210"/>
              <a:gd name="connsiteX0" fmla="*/ 0 w 491535"/>
              <a:gd name="connsiteY0" fmla="*/ 0 h 1447210"/>
              <a:gd name="connsiteX1" fmla="*/ 471169 w 491535"/>
              <a:gd name="connsiteY1" fmla="*/ 600865 h 1447210"/>
              <a:gd name="connsiteX2" fmla="*/ 369877 w 491535"/>
              <a:gd name="connsiteY2" fmla="*/ 1246321 h 1447210"/>
              <a:gd name="connsiteX3" fmla="*/ 0 w 491535"/>
              <a:gd name="connsiteY3" fmla="*/ 759573 h 1447210"/>
              <a:gd name="connsiteX4" fmla="*/ 0 w 491535"/>
              <a:gd name="connsiteY4" fmla="*/ 0 h 1447210"/>
              <a:gd name="connsiteX0" fmla="*/ 167302 w 491535"/>
              <a:gd name="connsiteY0" fmla="*/ 30841 h 1447210"/>
              <a:gd name="connsiteX1" fmla="*/ 471169 w 491535"/>
              <a:gd name="connsiteY1" fmla="*/ 600865 h 1447210"/>
              <a:gd name="connsiteX2" fmla="*/ 462585 w 491535"/>
              <a:gd name="connsiteY2" fmla="*/ 1447210 h 14472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91535" h="1447210" stroke="0" extrusionOk="0">
                <a:moveTo>
                  <a:pt x="0" y="0"/>
                </a:moveTo>
                <a:cubicBezTo>
                  <a:pt x="227297" y="0"/>
                  <a:pt x="423677" y="250436"/>
                  <a:pt x="471169" y="600865"/>
                </a:cubicBezTo>
                <a:cubicBezTo>
                  <a:pt x="502104" y="829125"/>
                  <a:pt x="464753" y="1067133"/>
                  <a:pt x="369877" y="1246321"/>
                </a:cubicBezTo>
                <a:lnTo>
                  <a:pt x="0" y="759573"/>
                </a:lnTo>
                <a:lnTo>
                  <a:pt x="0" y="0"/>
                </a:lnTo>
                <a:close/>
              </a:path>
              <a:path w="491535" h="1447210" fill="none">
                <a:moveTo>
                  <a:pt x="167302" y="30841"/>
                </a:moveTo>
                <a:cubicBezTo>
                  <a:pt x="394018" y="268591"/>
                  <a:pt x="423677" y="250436"/>
                  <a:pt x="471169" y="600865"/>
                </a:cubicBezTo>
                <a:cubicBezTo>
                  <a:pt x="502104" y="829125"/>
                  <a:pt x="496651" y="1246000"/>
                  <a:pt x="462585" y="1447210"/>
                </a:cubicBezTo>
              </a:path>
            </a:pathLst>
          </a:custGeom>
          <a:ln w="19050">
            <a:solidFill>
              <a:schemeClr val="accent6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41959" y="104654"/>
            <a:ext cx="10641979" cy="1325563"/>
          </a:xfrm>
        </p:spPr>
        <p:txBody>
          <a:bodyPr>
            <a:normAutofit/>
          </a:bodyPr>
          <a:lstStyle/>
          <a:p>
            <a:r>
              <a:rPr lang="fr-FR" sz="3200" dirty="0" smtClean="0">
                <a:solidFill>
                  <a:srgbClr val="00B050"/>
                </a:solidFill>
              </a:rPr>
              <a:t>Architecture N°3bis - </a:t>
            </a:r>
            <a:r>
              <a:rPr lang="fr-FR" sz="3200" dirty="0" smtClean="0">
                <a:solidFill>
                  <a:srgbClr val="00B050"/>
                </a:solidFill>
              </a:rPr>
              <a:t>Variante portail IEJP Itinéraires-jardins</a:t>
            </a:r>
            <a:endParaRPr lang="fr-FR" sz="3200" dirty="0">
              <a:solidFill>
                <a:srgbClr val="00B050"/>
              </a:solidFill>
            </a:endParaRPr>
          </a:p>
        </p:txBody>
      </p:sp>
      <p:pic>
        <p:nvPicPr>
          <p:cNvPr id="7" name="Imag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60824" y="2108845"/>
            <a:ext cx="1460414" cy="485171"/>
          </a:xfrm>
          <a:prstGeom prst="rect">
            <a:avLst/>
          </a:prstGeom>
          <a:ln>
            <a:solidFill>
              <a:schemeClr val="accent6">
                <a:lumMod val="75000"/>
              </a:schemeClr>
            </a:solidFill>
          </a:ln>
        </p:spPr>
      </p:pic>
      <p:grpSp>
        <p:nvGrpSpPr>
          <p:cNvPr id="12" name="Groupe 11"/>
          <p:cNvGrpSpPr/>
          <p:nvPr/>
        </p:nvGrpSpPr>
        <p:grpSpPr>
          <a:xfrm>
            <a:off x="3379316" y="1914826"/>
            <a:ext cx="708387" cy="1211764"/>
            <a:chOff x="4293716" y="2150076"/>
            <a:chExt cx="708387" cy="1211764"/>
          </a:xfrm>
        </p:grpSpPr>
        <p:pic>
          <p:nvPicPr>
            <p:cNvPr id="6" name="Image 5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293716" y="2150076"/>
              <a:ext cx="708387" cy="873210"/>
            </a:xfrm>
            <a:prstGeom prst="rect">
              <a:avLst/>
            </a:prstGeom>
          </p:spPr>
        </p:pic>
        <p:sp>
          <p:nvSpPr>
            <p:cNvPr id="10" name="ZoneTexte 9"/>
            <p:cNvSpPr txBox="1"/>
            <p:nvPr/>
          </p:nvSpPr>
          <p:spPr>
            <a:xfrm>
              <a:off x="4293716" y="3023286"/>
              <a:ext cx="550151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1600" dirty="0" smtClean="0"/>
                <a:t>PDN</a:t>
              </a:r>
              <a:endParaRPr lang="fr-FR" sz="1600" dirty="0"/>
            </a:p>
          </p:txBody>
        </p:sp>
      </p:grpSp>
      <p:grpSp>
        <p:nvGrpSpPr>
          <p:cNvPr id="13" name="Groupe 12"/>
          <p:cNvGrpSpPr/>
          <p:nvPr/>
        </p:nvGrpSpPr>
        <p:grpSpPr>
          <a:xfrm>
            <a:off x="518894" y="4337897"/>
            <a:ext cx="2161874" cy="1774871"/>
            <a:chOff x="1433294" y="4573147"/>
            <a:chExt cx="2161874" cy="1774871"/>
          </a:xfrm>
        </p:grpSpPr>
        <p:pic>
          <p:nvPicPr>
            <p:cNvPr id="5" name="Image 4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911072" y="4573147"/>
              <a:ext cx="1206319" cy="1222547"/>
            </a:xfrm>
            <a:prstGeom prst="rect">
              <a:avLst/>
            </a:prstGeom>
          </p:spPr>
        </p:pic>
        <p:sp>
          <p:nvSpPr>
            <p:cNvPr id="11" name="ZoneTexte 10"/>
            <p:cNvSpPr txBox="1"/>
            <p:nvPr/>
          </p:nvSpPr>
          <p:spPr>
            <a:xfrm>
              <a:off x="1433294" y="5763243"/>
              <a:ext cx="2161874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fr-FR" sz="1600" dirty="0" smtClean="0"/>
                <a:t>Utilisateur final</a:t>
              </a:r>
            </a:p>
            <a:p>
              <a:pPr algn="ctr"/>
              <a:r>
                <a:rPr lang="fr-FR" sz="1600" dirty="0" smtClean="0"/>
                <a:t>en situation de mobilité</a:t>
              </a:r>
              <a:endParaRPr lang="fr-FR" sz="1600" dirty="0"/>
            </a:p>
          </p:txBody>
        </p:sp>
      </p:grpSp>
      <p:pic>
        <p:nvPicPr>
          <p:cNvPr id="16" name="Image 15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7215" y="1942713"/>
            <a:ext cx="1458913" cy="906062"/>
          </a:xfrm>
          <a:prstGeom prst="rect">
            <a:avLst/>
          </a:prstGeom>
        </p:spPr>
      </p:pic>
      <p:grpSp>
        <p:nvGrpSpPr>
          <p:cNvPr id="18" name="Groupe 17"/>
          <p:cNvGrpSpPr/>
          <p:nvPr/>
        </p:nvGrpSpPr>
        <p:grpSpPr>
          <a:xfrm>
            <a:off x="2410691" y="4673597"/>
            <a:ext cx="3509818" cy="374353"/>
            <a:chOff x="3325091" y="4908847"/>
            <a:chExt cx="3509818" cy="374353"/>
          </a:xfrm>
        </p:grpSpPr>
        <p:cxnSp>
          <p:nvCxnSpPr>
            <p:cNvPr id="15" name="Connecteur droit avec flèche 14"/>
            <p:cNvCxnSpPr/>
            <p:nvPr/>
          </p:nvCxnSpPr>
          <p:spPr>
            <a:xfrm flipH="1">
              <a:off x="3325091" y="5264727"/>
              <a:ext cx="3509818" cy="18473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ZoneTexte 16"/>
            <p:cNvSpPr txBox="1"/>
            <p:nvPr/>
          </p:nvSpPr>
          <p:spPr>
            <a:xfrm>
              <a:off x="4460086" y="4908847"/>
              <a:ext cx="1808893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1600" dirty="0" smtClean="0">
                  <a:sym typeface="Wingdings" panose="05000000000000000000" pitchFamily="2" charset="2"/>
                </a:rPr>
                <a:t> Trace GPX + </a:t>
              </a:r>
              <a:r>
                <a:rPr lang="fr-FR" sz="1600" u="sng" dirty="0" err="1">
                  <a:solidFill>
                    <a:srgbClr val="0070C0"/>
                  </a:solidFill>
                  <a:sym typeface="Wingdings" panose="05000000000000000000" pitchFamily="2" charset="2"/>
                  <a:hlinkClick r:id="rId6"/>
                </a:rPr>
                <a:t>POIs</a:t>
              </a:r>
              <a:endParaRPr lang="fr-FR" sz="1600" dirty="0"/>
            </a:p>
          </p:txBody>
        </p:sp>
      </p:grpSp>
      <p:sp>
        <p:nvSpPr>
          <p:cNvPr id="27" name="ZoneTexte 26"/>
          <p:cNvSpPr txBox="1"/>
          <p:nvPr/>
        </p:nvSpPr>
        <p:spPr>
          <a:xfrm>
            <a:off x="0" y="6579736"/>
            <a:ext cx="200689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400" dirty="0" smtClean="0"/>
              <a:t>(*) POI : Point Of </a:t>
            </a:r>
            <a:r>
              <a:rPr lang="fr-FR" sz="1400" dirty="0" err="1" smtClean="0"/>
              <a:t>Interest</a:t>
            </a:r>
            <a:endParaRPr lang="fr-FR" sz="1400" dirty="0"/>
          </a:p>
        </p:txBody>
      </p:sp>
      <p:grpSp>
        <p:nvGrpSpPr>
          <p:cNvPr id="41" name="Groupe 40"/>
          <p:cNvGrpSpPr/>
          <p:nvPr/>
        </p:nvGrpSpPr>
        <p:grpSpPr>
          <a:xfrm rot="4517574">
            <a:off x="5281558" y="3239176"/>
            <a:ext cx="1577640" cy="338554"/>
            <a:chOff x="3316255" y="4991182"/>
            <a:chExt cx="3509818" cy="338554"/>
          </a:xfrm>
        </p:grpSpPr>
        <p:cxnSp>
          <p:nvCxnSpPr>
            <p:cNvPr id="42" name="Connecteur droit avec flèche 41"/>
            <p:cNvCxnSpPr/>
            <p:nvPr/>
          </p:nvCxnSpPr>
          <p:spPr>
            <a:xfrm flipH="1">
              <a:off x="3316255" y="5271800"/>
              <a:ext cx="3509818" cy="18473"/>
            </a:xfrm>
            <a:prstGeom prst="straightConnector1">
              <a:avLst/>
            </a:prstGeom>
            <a:ln w="12700">
              <a:solidFill>
                <a:srgbClr val="7030A0"/>
              </a:solidFill>
              <a:prstDash val="dash"/>
              <a:headEnd type="triangl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3" name="ZoneTexte 42">
              <a:hlinkClick r:id="rId7"/>
            </p:cNvPr>
            <p:cNvSpPr txBox="1"/>
            <p:nvPr/>
          </p:nvSpPr>
          <p:spPr>
            <a:xfrm rot="21496444">
              <a:off x="3968723" y="4991182"/>
              <a:ext cx="1751739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1600" dirty="0" smtClean="0">
                  <a:sym typeface="Wingdings" panose="05000000000000000000" pitchFamily="2" charset="2"/>
                </a:rPr>
                <a:t> </a:t>
              </a:r>
              <a:r>
                <a:rPr lang="fr-FR" sz="1600" u="sng" dirty="0" err="1" smtClean="0">
                  <a:solidFill>
                    <a:srgbClr val="0070C0"/>
                  </a:solidFill>
                  <a:sym typeface="Wingdings" panose="05000000000000000000" pitchFamily="2" charset="2"/>
                  <a:hlinkClick r:id="rId6"/>
                </a:rPr>
                <a:t>POIs</a:t>
              </a:r>
              <a:endParaRPr lang="fr-FR" sz="1600" dirty="0"/>
            </a:p>
          </p:txBody>
        </p:sp>
      </p:grpSp>
      <p:cxnSp>
        <p:nvCxnSpPr>
          <p:cNvPr id="4" name="Connecteur droit avec flèche 3"/>
          <p:cNvCxnSpPr/>
          <p:nvPr/>
        </p:nvCxnSpPr>
        <p:spPr>
          <a:xfrm flipH="1">
            <a:off x="8563708" y="2169642"/>
            <a:ext cx="3516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4" name="Groupe 43"/>
          <p:cNvGrpSpPr/>
          <p:nvPr/>
        </p:nvGrpSpPr>
        <p:grpSpPr>
          <a:xfrm rot="15110632">
            <a:off x="313049" y="3541259"/>
            <a:ext cx="1682512" cy="338554"/>
            <a:chOff x="2741853" y="4991192"/>
            <a:chExt cx="4205493" cy="338554"/>
          </a:xfrm>
        </p:grpSpPr>
        <p:cxnSp>
          <p:nvCxnSpPr>
            <p:cNvPr id="45" name="Connecteur droit avec flèche 44"/>
            <p:cNvCxnSpPr/>
            <p:nvPr/>
          </p:nvCxnSpPr>
          <p:spPr>
            <a:xfrm flipH="1">
              <a:off x="3325091" y="5264727"/>
              <a:ext cx="3509818" cy="18473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6" name="ZoneTexte 45">
              <a:hlinkClick r:id="rId7"/>
            </p:cNvPr>
            <p:cNvSpPr txBox="1"/>
            <p:nvPr/>
          </p:nvSpPr>
          <p:spPr>
            <a:xfrm rot="21538134">
              <a:off x="2741853" y="4991192"/>
              <a:ext cx="4205493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1600" dirty="0" smtClean="0">
                  <a:sym typeface="Wingdings" panose="05000000000000000000" pitchFamily="2" charset="2"/>
                </a:rPr>
                <a:t> Site </a:t>
              </a:r>
              <a:r>
                <a:rPr lang="fr-FR" sz="1600" dirty="0" err="1" smtClean="0">
                  <a:sym typeface="Wingdings" panose="05000000000000000000" pitchFamily="2" charset="2"/>
                </a:rPr>
                <a:t>internet</a:t>
              </a:r>
              <a:r>
                <a:rPr lang="fr-FR" sz="1600" baseline="-25000" dirty="0" err="1" smtClean="0">
                  <a:sym typeface="Wingdings" panose="05000000000000000000" pitchFamily="2" charset="2"/>
                </a:rPr>
                <a:t>POI</a:t>
              </a:r>
              <a:endParaRPr lang="fr-FR" sz="1600" dirty="0"/>
            </a:p>
          </p:txBody>
        </p:sp>
      </p:grpSp>
      <p:sp>
        <p:nvSpPr>
          <p:cNvPr id="47" name="ZoneTexte 46"/>
          <p:cNvSpPr txBox="1"/>
          <p:nvPr/>
        </p:nvSpPr>
        <p:spPr>
          <a:xfrm>
            <a:off x="8370277" y="1485814"/>
            <a:ext cx="3821723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Clr>
                <a:schemeClr val="accent6"/>
              </a:buClr>
              <a:buFont typeface="Wingdings" panose="05000000000000000000" pitchFamily="2" charset="2"/>
              <a:buChar char=""/>
            </a:pPr>
            <a:r>
              <a:rPr lang="fr-FR" dirty="0" smtClean="0"/>
              <a:t>Partenariat IEJP/fournisseurs GPX</a:t>
            </a:r>
          </a:p>
          <a:p>
            <a:pPr marL="285750" indent="-285750">
              <a:buClr>
                <a:schemeClr val="accent2"/>
              </a:buClr>
              <a:buFont typeface="Wingdings" panose="05000000000000000000" pitchFamily="2" charset="2"/>
              <a:buChar char=""/>
            </a:pPr>
            <a:r>
              <a:rPr lang="fr-FR" u="dash" dirty="0" smtClean="0">
                <a:uFill>
                  <a:solidFill>
                    <a:srgbClr val="7030A0"/>
                  </a:solidFill>
                </a:uFill>
              </a:rPr>
              <a:t>Offline et partiellement manuel</a:t>
            </a:r>
          </a:p>
          <a:p>
            <a:pPr marL="285750" indent="-285750">
              <a:buClr>
                <a:schemeClr val="accent2"/>
              </a:buClr>
              <a:buFont typeface="Wingdings" panose="05000000000000000000" pitchFamily="2" charset="2"/>
              <a:buChar char=""/>
            </a:pPr>
            <a:r>
              <a:rPr lang="fr-FR" dirty="0" smtClean="0"/>
              <a:t>Fiches inventaires identifiées à mettre à jour manuellement à la demande pour parer aux data obsolètes et/ou incomplètes</a:t>
            </a:r>
          </a:p>
          <a:p>
            <a:pPr marL="285750" indent="-285750">
              <a:buClr>
                <a:schemeClr val="accent2"/>
              </a:buClr>
              <a:buFont typeface="Wingdings" panose="05000000000000000000" pitchFamily="2" charset="2"/>
              <a:buChar char=""/>
            </a:pPr>
            <a:r>
              <a:rPr lang="fr-FR" dirty="0" smtClean="0"/>
              <a:t>Développement informatique réduit (identification des jardins le long d’un itinéraire GPX)</a:t>
            </a:r>
          </a:p>
          <a:p>
            <a:pPr marL="285750" indent="-285750">
              <a:buClr>
                <a:schemeClr val="accent6"/>
              </a:buClr>
              <a:buFont typeface="Wingdings" panose="05000000000000000000" pitchFamily="2" charset="2"/>
              <a:buChar char=""/>
            </a:pPr>
            <a:r>
              <a:rPr lang="fr-FR" dirty="0" smtClean="0"/>
              <a:t>Exigences moindres de support opérationnel PDN</a:t>
            </a:r>
          </a:p>
          <a:p>
            <a:pPr marL="285750" indent="-285750">
              <a:buClr>
                <a:schemeClr val="accent6">
                  <a:lumMod val="75000"/>
                </a:schemeClr>
              </a:buClr>
              <a:buFont typeface="Wingdings" panose="05000000000000000000" pitchFamily="2" charset="2"/>
              <a:buChar char=""/>
            </a:pPr>
            <a:r>
              <a:rPr lang="fr-FR" dirty="0"/>
              <a:t>Visibilité++ IEJP</a:t>
            </a:r>
          </a:p>
          <a:p>
            <a:pPr marL="285750" indent="-285750">
              <a:buFontTx/>
              <a:buChar char="-"/>
            </a:pPr>
            <a:endParaRPr lang="fr-FR" dirty="0"/>
          </a:p>
          <a:p>
            <a:pPr algn="ctr"/>
            <a:r>
              <a:rPr lang="fr-FR" dirty="0" smtClean="0">
                <a:sym typeface="Wingdings" panose="05000000000000000000" pitchFamily="2" charset="2"/>
              </a:rPr>
              <a:t> </a:t>
            </a:r>
            <a:r>
              <a:rPr lang="fr-FR" dirty="0" smtClean="0">
                <a:sym typeface="Wingdings" panose="05000000000000000000" pitchFamily="2" charset="2"/>
              </a:rPr>
              <a:t>Le pis-aller pour remettre l’IEJP au centre, au prix d’une duplication </a:t>
            </a:r>
            <a:r>
              <a:rPr lang="fr-FR" dirty="0">
                <a:sym typeface="Wingdings" panose="05000000000000000000" pitchFamily="2" charset="2"/>
              </a:rPr>
              <a:t>des data</a:t>
            </a:r>
            <a:endParaRPr lang="fr-FR" dirty="0"/>
          </a:p>
        </p:txBody>
      </p:sp>
      <p:pic>
        <p:nvPicPr>
          <p:cNvPr id="8" name="Image 7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31100" y="2862791"/>
            <a:ext cx="1557898" cy="1010679"/>
          </a:xfrm>
          <a:prstGeom prst="rect">
            <a:avLst/>
          </a:prstGeom>
        </p:spPr>
      </p:pic>
      <p:pic>
        <p:nvPicPr>
          <p:cNvPr id="48" name="Image 47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541682" y="3515849"/>
            <a:ext cx="824477" cy="659582"/>
          </a:xfrm>
          <a:prstGeom prst="rect">
            <a:avLst/>
          </a:prstGeom>
        </p:spPr>
      </p:pic>
      <p:grpSp>
        <p:nvGrpSpPr>
          <p:cNvPr id="32" name="Groupe 31"/>
          <p:cNvGrpSpPr/>
          <p:nvPr/>
        </p:nvGrpSpPr>
        <p:grpSpPr>
          <a:xfrm rot="4572399">
            <a:off x="5644455" y="3150048"/>
            <a:ext cx="1562197" cy="374353"/>
            <a:chOff x="3325091" y="4908847"/>
            <a:chExt cx="3509818" cy="374353"/>
          </a:xfrm>
        </p:grpSpPr>
        <p:cxnSp>
          <p:nvCxnSpPr>
            <p:cNvPr id="33" name="Connecteur droit avec flèche 32"/>
            <p:cNvCxnSpPr/>
            <p:nvPr/>
          </p:nvCxnSpPr>
          <p:spPr>
            <a:xfrm flipH="1">
              <a:off x="3325091" y="5264727"/>
              <a:ext cx="3509818" cy="18473"/>
            </a:xfrm>
            <a:prstGeom prst="straightConnector1">
              <a:avLst/>
            </a:prstGeom>
            <a:ln w="12700">
              <a:solidFill>
                <a:srgbClr val="7030A0"/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0" name="ZoneTexte 39"/>
            <p:cNvSpPr txBox="1"/>
            <p:nvPr/>
          </p:nvSpPr>
          <p:spPr>
            <a:xfrm>
              <a:off x="3612342" y="4908847"/>
              <a:ext cx="2935314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1600" dirty="0" smtClean="0">
                  <a:sym typeface="Wingdings" panose="05000000000000000000" pitchFamily="2" charset="2"/>
                </a:rPr>
                <a:t> </a:t>
              </a:r>
              <a:r>
                <a:rPr lang="fr-FR" sz="1600" dirty="0" err="1" smtClean="0">
                  <a:sym typeface="Wingdings" panose="05000000000000000000" pitchFamily="2" charset="2"/>
                </a:rPr>
                <a:t>POIs</a:t>
              </a:r>
              <a:r>
                <a:rPr lang="fr-FR" sz="1600" dirty="0" smtClean="0">
                  <a:sym typeface="Wingdings" panose="05000000000000000000" pitchFamily="2" charset="2"/>
                </a:rPr>
                <a:t> trace GPX ?</a:t>
              </a:r>
              <a:endParaRPr lang="fr-FR" sz="1600" dirty="0"/>
            </a:p>
          </p:txBody>
        </p:sp>
      </p:grpSp>
      <p:pic>
        <p:nvPicPr>
          <p:cNvPr id="25" name="Image 24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3656" y="1179292"/>
            <a:ext cx="859088" cy="745490"/>
          </a:xfrm>
          <a:prstGeom prst="rect">
            <a:avLst/>
          </a:prstGeom>
        </p:spPr>
      </p:pic>
      <p:cxnSp>
        <p:nvCxnSpPr>
          <p:cNvPr id="28" name="Connecteur droit avec flèche 27"/>
          <p:cNvCxnSpPr/>
          <p:nvPr/>
        </p:nvCxnSpPr>
        <p:spPr>
          <a:xfrm>
            <a:off x="5942641" y="1913867"/>
            <a:ext cx="103793" cy="255773"/>
          </a:xfrm>
          <a:prstGeom prst="straightConnector1">
            <a:avLst/>
          </a:prstGeom>
          <a:ln>
            <a:solidFill>
              <a:srgbClr val="7030A0"/>
            </a:solidFill>
            <a:prstDash val="dash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Connecteur droit avec flèche 48"/>
          <p:cNvCxnSpPr/>
          <p:nvPr/>
        </p:nvCxnSpPr>
        <p:spPr>
          <a:xfrm flipV="1">
            <a:off x="4165600" y="2351430"/>
            <a:ext cx="1375884" cy="147811"/>
          </a:xfrm>
          <a:prstGeom prst="straightConnector1">
            <a:avLst/>
          </a:prstGeom>
          <a:ln>
            <a:solidFill>
              <a:srgbClr val="7030A0"/>
            </a:solidFill>
            <a:prstDash val="dash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8" name="Groupe 37"/>
          <p:cNvGrpSpPr/>
          <p:nvPr/>
        </p:nvGrpSpPr>
        <p:grpSpPr>
          <a:xfrm>
            <a:off x="5833145" y="4226790"/>
            <a:ext cx="2368760" cy="2506834"/>
            <a:chOff x="5833145" y="4226790"/>
            <a:chExt cx="2368760" cy="2506834"/>
          </a:xfrm>
        </p:grpSpPr>
        <p:pic>
          <p:nvPicPr>
            <p:cNvPr id="39" name="Image 38"/>
            <p:cNvPicPr>
              <a:picLocks noChangeAspect="1"/>
            </p:cNvPicPr>
            <p:nvPr/>
          </p:nvPicPr>
          <p:blipFill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348657" y="5707593"/>
              <a:ext cx="602818" cy="967233"/>
            </a:xfrm>
            <a:prstGeom prst="rect">
              <a:avLst/>
            </a:prstGeom>
          </p:spPr>
        </p:pic>
        <p:pic>
          <p:nvPicPr>
            <p:cNvPr id="50" name="Image 49"/>
            <p:cNvPicPr>
              <a:picLocks noChangeAspect="1"/>
            </p:cNvPicPr>
            <p:nvPr/>
          </p:nvPicPr>
          <p:blipFill>
            <a:blip r:embed="rId1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833145" y="5295081"/>
              <a:ext cx="1268124" cy="677434"/>
            </a:xfrm>
            <a:prstGeom prst="rect">
              <a:avLst/>
            </a:prstGeom>
          </p:spPr>
        </p:pic>
        <p:pic>
          <p:nvPicPr>
            <p:cNvPr id="51" name="Image 50"/>
            <p:cNvPicPr>
              <a:picLocks noChangeAspect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252744" y="4599889"/>
              <a:ext cx="1949161" cy="656453"/>
            </a:xfrm>
            <a:prstGeom prst="rect">
              <a:avLst/>
            </a:prstGeom>
          </p:spPr>
        </p:pic>
        <p:sp>
          <p:nvSpPr>
            <p:cNvPr id="52" name="ZoneTexte 51"/>
            <p:cNvSpPr txBox="1"/>
            <p:nvPr/>
          </p:nvSpPr>
          <p:spPr>
            <a:xfrm>
              <a:off x="5918445" y="4226790"/>
              <a:ext cx="2096087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fr-FR" sz="1600" dirty="0" smtClean="0"/>
                <a:t>Fournisseur traces GPX</a:t>
              </a:r>
            </a:p>
          </p:txBody>
        </p:sp>
        <p:pic>
          <p:nvPicPr>
            <p:cNvPr id="53" name="Image 52"/>
            <p:cNvPicPr>
              <a:picLocks noChangeAspect="1"/>
            </p:cNvPicPr>
            <p:nvPr/>
          </p:nvPicPr>
          <p:blipFill>
            <a:blip r:embed="rId1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258774" y="6043881"/>
              <a:ext cx="689743" cy="689743"/>
            </a:xfrm>
            <a:prstGeom prst="rect">
              <a:avLst/>
            </a:prstGeom>
          </p:spPr>
        </p:pic>
      </p:grpSp>
      <p:pic>
        <p:nvPicPr>
          <p:cNvPr id="55" name="Image 54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443932" y="3563480"/>
            <a:ext cx="962962" cy="540933"/>
          </a:xfrm>
          <a:prstGeom prst="rect">
            <a:avLst/>
          </a:prstGeom>
        </p:spPr>
      </p:pic>
      <p:pic>
        <p:nvPicPr>
          <p:cNvPr id="56" name="Image 55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013428" y="689809"/>
            <a:ext cx="5476875" cy="3076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09391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5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5"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e 14"/>
          <p:cNvGrpSpPr/>
          <p:nvPr/>
        </p:nvGrpSpPr>
        <p:grpSpPr>
          <a:xfrm>
            <a:off x="1488558" y="858218"/>
            <a:ext cx="10352567" cy="5594675"/>
            <a:chOff x="0" y="109329"/>
            <a:chExt cx="12192000" cy="6602132"/>
          </a:xfrm>
        </p:grpSpPr>
        <p:pic>
          <p:nvPicPr>
            <p:cNvPr id="9" name="Image 8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146538"/>
              <a:ext cx="12192000" cy="6564923"/>
            </a:xfrm>
            <a:prstGeom prst="rect">
              <a:avLst/>
            </a:prstGeom>
            <a:ln w="88900">
              <a:solidFill>
                <a:schemeClr val="accent1">
                  <a:shade val="50000"/>
                </a:schemeClr>
              </a:solidFill>
            </a:ln>
          </p:spPr>
        </p:pic>
        <p:sp>
          <p:nvSpPr>
            <p:cNvPr id="14" name="ZoneTexte 13"/>
            <p:cNvSpPr txBox="1"/>
            <p:nvPr/>
          </p:nvSpPr>
          <p:spPr>
            <a:xfrm>
              <a:off x="8074343" y="109329"/>
              <a:ext cx="1467065" cy="32687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rtlCol="0">
              <a:spAutoFit/>
            </a:bodyPr>
            <a:lstStyle/>
            <a:p>
              <a:r>
                <a:rPr lang="fr-FR" b="1" dirty="0" smtClean="0">
                  <a:ln>
                    <a:solidFill>
                      <a:schemeClr val="bg1"/>
                    </a:solidFill>
                  </a:ln>
                  <a:solidFill>
                    <a:srgbClr val="00B050"/>
                  </a:solidFill>
                </a:rPr>
                <a:t>Site web IEJP</a:t>
              </a:r>
              <a:endParaRPr lang="fr-FR" b="1" dirty="0">
                <a:ln>
                  <a:solidFill>
                    <a:schemeClr val="bg1"/>
                  </a:solidFill>
                </a:ln>
                <a:solidFill>
                  <a:srgbClr val="00B050"/>
                </a:solidFill>
              </a:endParaRPr>
            </a:p>
          </p:txBody>
        </p:sp>
      </p:grpSp>
      <p:pic>
        <p:nvPicPr>
          <p:cNvPr id="28" name="Image 2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02955" y="2490075"/>
            <a:ext cx="7468362" cy="3947922"/>
          </a:xfrm>
          <a:prstGeom prst="rect">
            <a:avLst/>
          </a:prstGeom>
        </p:spPr>
      </p:pic>
      <p:sp>
        <p:nvSpPr>
          <p:cNvPr id="16" name="Titre 1"/>
          <p:cNvSpPr txBox="1">
            <a:spLocks/>
          </p:cNvSpPr>
          <p:nvPr/>
        </p:nvSpPr>
        <p:spPr>
          <a:xfrm>
            <a:off x="828963" y="226967"/>
            <a:ext cx="10823531" cy="1325563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3200" dirty="0" smtClean="0">
                <a:solidFill>
                  <a:srgbClr val="00B050"/>
                </a:solidFill>
              </a:rPr>
              <a:t>Architecture </a:t>
            </a:r>
            <a:r>
              <a:rPr lang="fr-FR" sz="3200" dirty="0" smtClean="0">
                <a:solidFill>
                  <a:srgbClr val="00B050"/>
                </a:solidFill>
              </a:rPr>
              <a:t>logicielle N°3bis d’un portail IEJP Itinéraires-jardins</a:t>
            </a:r>
            <a:endParaRPr lang="fr-FR" sz="3200" dirty="0">
              <a:solidFill>
                <a:srgbClr val="00B050"/>
              </a:solidFill>
            </a:endParaRPr>
          </a:p>
        </p:txBody>
      </p:sp>
      <p:sp>
        <p:nvSpPr>
          <p:cNvPr id="4" name="ZoneTexte 3"/>
          <p:cNvSpPr txBox="1"/>
          <p:nvPr/>
        </p:nvSpPr>
        <p:spPr>
          <a:xfrm>
            <a:off x="1501580" y="4251918"/>
            <a:ext cx="1380630" cy="646331"/>
          </a:xfrm>
          <a:prstGeom prst="rect">
            <a:avLst/>
          </a:prstGeom>
          <a:noFill/>
        </p:spPr>
        <p:txBody>
          <a:bodyPr wrap="none" rIns="0" rtlCol="0">
            <a:spAutoFit/>
          </a:bodyPr>
          <a:lstStyle/>
          <a:p>
            <a:pPr marL="171450" indent="-171450">
              <a:buFontTx/>
              <a:buChar char="-"/>
            </a:pPr>
            <a:r>
              <a:rPr lang="fr-FR" sz="900" dirty="0" smtClean="0">
                <a:solidFill>
                  <a:srgbClr val="7B7E42"/>
                </a:solidFill>
              </a:rPr>
              <a:t>Synthétique</a:t>
            </a:r>
          </a:p>
          <a:p>
            <a:pPr marL="171450" indent="-171450">
              <a:buFontTx/>
              <a:buChar char="-"/>
            </a:pPr>
            <a:r>
              <a:rPr lang="fr-FR" sz="900" dirty="0" smtClean="0">
                <a:solidFill>
                  <a:srgbClr val="7B7E42"/>
                </a:solidFill>
              </a:rPr>
              <a:t>Ergonomie améliorée</a:t>
            </a:r>
          </a:p>
          <a:p>
            <a:pPr marL="171450" indent="-171450">
              <a:buFontTx/>
              <a:buChar char="-"/>
            </a:pPr>
            <a:r>
              <a:rPr lang="fr-FR" sz="900" dirty="0" smtClean="0">
                <a:solidFill>
                  <a:srgbClr val="7B7E42"/>
                </a:solidFill>
              </a:rPr>
              <a:t>Plurilinguisme possible</a:t>
            </a:r>
          </a:p>
          <a:p>
            <a:pPr marL="171450" indent="-171450">
              <a:buFontTx/>
              <a:buChar char="-"/>
            </a:pPr>
            <a:r>
              <a:rPr lang="fr-FR" sz="900" dirty="0" smtClean="0">
                <a:solidFill>
                  <a:srgbClr val="7B7E42"/>
                </a:solidFill>
              </a:rPr>
              <a:t>Sous contrôle IEJP</a:t>
            </a:r>
            <a:endParaRPr lang="fr-FR" sz="900" dirty="0">
              <a:solidFill>
                <a:srgbClr val="7B7E42"/>
              </a:solidFill>
            </a:endParaRPr>
          </a:p>
        </p:txBody>
      </p:sp>
      <p:sp>
        <p:nvSpPr>
          <p:cNvPr id="21" name="ZoneTexte 20"/>
          <p:cNvSpPr txBox="1"/>
          <p:nvPr/>
        </p:nvSpPr>
        <p:spPr>
          <a:xfrm>
            <a:off x="3501053" y="2238921"/>
            <a:ext cx="725190" cy="169277"/>
          </a:xfrm>
          <a:prstGeom prst="rect">
            <a:avLst/>
          </a:prstGeom>
          <a:solidFill>
            <a:schemeClr val="bg1"/>
          </a:solidFill>
        </p:spPr>
        <p:txBody>
          <a:bodyPr wrap="square" lIns="0" rIns="0" rtlCol="0">
            <a:spAutoFit/>
          </a:bodyPr>
          <a:lstStyle/>
          <a:p>
            <a:r>
              <a:rPr lang="fr-FR" sz="500" b="1" dirty="0" smtClean="0">
                <a:solidFill>
                  <a:srgbClr val="576A8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Itinéraires-jardins</a:t>
            </a:r>
            <a:endParaRPr lang="fr-FR" sz="500" b="1" dirty="0">
              <a:solidFill>
                <a:srgbClr val="576A80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pic>
        <p:nvPicPr>
          <p:cNvPr id="30" name="Image 2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59993" y="6026936"/>
            <a:ext cx="385001" cy="349187"/>
          </a:xfrm>
          <a:prstGeom prst="rect">
            <a:avLst/>
          </a:prstGeom>
        </p:spPr>
      </p:pic>
      <p:grpSp>
        <p:nvGrpSpPr>
          <p:cNvPr id="12" name="Groupe 11"/>
          <p:cNvGrpSpPr/>
          <p:nvPr/>
        </p:nvGrpSpPr>
        <p:grpSpPr>
          <a:xfrm>
            <a:off x="4321320" y="2106785"/>
            <a:ext cx="7315200" cy="4037919"/>
            <a:chOff x="3765177" y="2216501"/>
            <a:chExt cx="7315200" cy="4037919"/>
          </a:xfrm>
        </p:grpSpPr>
        <p:sp>
          <p:nvSpPr>
            <p:cNvPr id="11" name="ZoneTexte 10"/>
            <p:cNvSpPr txBox="1"/>
            <p:nvPr/>
          </p:nvSpPr>
          <p:spPr>
            <a:xfrm>
              <a:off x="8740619" y="2216501"/>
              <a:ext cx="1293816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rtlCol="0">
              <a:spAutoFit/>
            </a:bodyPr>
            <a:lstStyle/>
            <a:p>
              <a:r>
                <a:rPr lang="fr-FR" b="1" dirty="0" smtClean="0">
                  <a:ln>
                    <a:solidFill>
                      <a:schemeClr val="bg1"/>
                    </a:solidFill>
                  </a:ln>
                  <a:solidFill>
                    <a:srgbClr val="00B050"/>
                  </a:solidFill>
                </a:rPr>
                <a:t>Site web PDN</a:t>
              </a:r>
              <a:endParaRPr lang="fr-FR" b="1" dirty="0">
                <a:ln>
                  <a:solidFill>
                    <a:schemeClr val="bg1"/>
                  </a:solidFill>
                </a:ln>
                <a:solidFill>
                  <a:srgbClr val="00B050"/>
                </a:solidFill>
              </a:endParaRPr>
            </a:p>
          </p:txBody>
        </p:sp>
        <p:pic>
          <p:nvPicPr>
            <p:cNvPr id="8" name="Image 7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765177" y="2326032"/>
              <a:ext cx="7315200" cy="3928388"/>
            </a:xfrm>
            <a:prstGeom prst="rect">
              <a:avLst/>
            </a:prstGeom>
            <a:ln w="88900" cmpd="sng">
              <a:solidFill>
                <a:schemeClr val="accent1">
                  <a:shade val="50000"/>
                </a:schemeClr>
              </a:solidFill>
            </a:ln>
          </p:spPr>
        </p:pic>
      </p:grpSp>
      <p:grpSp>
        <p:nvGrpSpPr>
          <p:cNvPr id="13" name="Groupe 12"/>
          <p:cNvGrpSpPr/>
          <p:nvPr/>
        </p:nvGrpSpPr>
        <p:grpSpPr>
          <a:xfrm>
            <a:off x="8332414" y="3872472"/>
            <a:ext cx="2143125" cy="2143125"/>
            <a:chOff x="8332414" y="3872472"/>
            <a:chExt cx="2143125" cy="2143125"/>
          </a:xfrm>
        </p:grpSpPr>
        <p:pic>
          <p:nvPicPr>
            <p:cNvPr id="6" name="Image 5"/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332414" y="3872472"/>
              <a:ext cx="2143125" cy="2143125"/>
            </a:xfrm>
            <a:prstGeom prst="rect">
              <a:avLst/>
            </a:prstGeom>
          </p:spPr>
        </p:pic>
        <p:sp>
          <p:nvSpPr>
            <p:cNvPr id="10" name="ZoneTexte 9"/>
            <p:cNvSpPr txBox="1"/>
            <p:nvPr/>
          </p:nvSpPr>
          <p:spPr>
            <a:xfrm>
              <a:off x="8903965" y="4221127"/>
              <a:ext cx="967124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rtlCol="0">
              <a:spAutoFit/>
            </a:bodyPr>
            <a:lstStyle/>
            <a:p>
              <a:r>
                <a:rPr lang="fr-FR" b="1" dirty="0" smtClean="0">
                  <a:ln>
                    <a:solidFill>
                      <a:schemeClr val="bg1"/>
                    </a:solidFill>
                  </a:ln>
                  <a:solidFill>
                    <a:srgbClr val="00B050"/>
                  </a:solidFill>
                </a:rPr>
                <a:t>Inventaire</a:t>
              </a:r>
              <a:endParaRPr lang="fr-FR" b="1" dirty="0">
                <a:ln>
                  <a:solidFill>
                    <a:schemeClr val="bg1"/>
                  </a:solidFill>
                </a:ln>
                <a:solidFill>
                  <a:srgbClr val="00B050"/>
                </a:solidFill>
              </a:endParaRPr>
            </a:p>
          </p:txBody>
        </p:sp>
      </p:grpSp>
      <p:pic>
        <p:nvPicPr>
          <p:cNvPr id="17" name="Image 1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903965" y="4639556"/>
            <a:ext cx="1020088" cy="869203"/>
          </a:xfrm>
          <a:prstGeom prst="rect">
            <a:avLst/>
          </a:prstGeom>
          <a:ln w="19050">
            <a:solidFill>
              <a:srgbClr val="2C79BF"/>
            </a:solidFill>
          </a:ln>
        </p:spPr>
      </p:pic>
      <p:pic>
        <p:nvPicPr>
          <p:cNvPr id="18" name="Image 1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21146" y="4394915"/>
            <a:ext cx="1020088" cy="869203"/>
          </a:xfrm>
          <a:prstGeom prst="rect">
            <a:avLst/>
          </a:prstGeom>
          <a:ln w="19050">
            <a:solidFill>
              <a:srgbClr val="2C79BF"/>
            </a:solidFill>
          </a:ln>
        </p:spPr>
      </p:pic>
      <p:pic>
        <p:nvPicPr>
          <p:cNvPr id="19" name="Image 1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609192" y="2683441"/>
            <a:ext cx="1263066" cy="1508188"/>
          </a:xfrm>
          <a:prstGeom prst="rect">
            <a:avLst/>
          </a:prstGeom>
          <a:ln w="19050">
            <a:solidFill>
              <a:srgbClr val="CFD1A7"/>
            </a:solidFill>
          </a:ln>
        </p:spPr>
      </p:pic>
      <p:pic>
        <p:nvPicPr>
          <p:cNvPr id="3" name="Image 2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138760" y="2954262"/>
            <a:ext cx="434626" cy="344615"/>
          </a:xfrm>
          <a:prstGeom prst="rect">
            <a:avLst/>
          </a:prstGeom>
        </p:spPr>
      </p:pic>
      <p:grpSp>
        <p:nvGrpSpPr>
          <p:cNvPr id="39" name="Groupe 38"/>
          <p:cNvGrpSpPr/>
          <p:nvPr/>
        </p:nvGrpSpPr>
        <p:grpSpPr>
          <a:xfrm>
            <a:off x="3107565" y="2106785"/>
            <a:ext cx="8630421" cy="4322666"/>
            <a:chOff x="3102955" y="2111406"/>
            <a:chExt cx="8630421" cy="4322666"/>
          </a:xfrm>
        </p:grpSpPr>
        <p:grpSp>
          <p:nvGrpSpPr>
            <p:cNvPr id="36" name="Groupe 35"/>
            <p:cNvGrpSpPr/>
            <p:nvPr/>
          </p:nvGrpSpPr>
          <p:grpSpPr>
            <a:xfrm>
              <a:off x="3102955" y="2111406"/>
              <a:ext cx="8630421" cy="4322666"/>
              <a:chOff x="3102955" y="2111406"/>
              <a:chExt cx="8630421" cy="4322666"/>
            </a:xfrm>
          </p:grpSpPr>
          <p:grpSp>
            <p:nvGrpSpPr>
              <p:cNvPr id="33" name="Groupe 32"/>
              <p:cNvGrpSpPr/>
              <p:nvPr/>
            </p:nvGrpSpPr>
            <p:grpSpPr>
              <a:xfrm>
                <a:off x="3102955" y="2118714"/>
                <a:ext cx="8630421" cy="4315358"/>
                <a:chOff x="3102955" y="2118714"/>
                <a:chExt cx="8630421" cy="4315358"/>
              </a:xfrm>
            </p:grpSpPr>
            <p:pic>
              <p:nvPicPr>
                <p:cNvPr id="29" name="Image 28"/>
                <p:cNvPicPr>
                  <a:picLocks noChangeAspect="1"/>
                </p:cNvPicPr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3102955" y="2486150"/>
                  <a:ext cx="7468362" cy="3947922"/>
                </a:xfrm>
                <a:prstGeom prst="rect">
                  <a:avLst/>
                </a:prstGeom>
              </p:spPr>
            </p:pic>
            <p:sp>
              <p:nvSpPr>
                <p:cNvPr id="32" name="Rectangle 31"/>
                <p:cNvSpPr/>
                <p:nvPr/>
              </p:nvSpPr>
              <p:spPr>
                <a:xfrm>
                  <a:off x="10571317" y="2118714"/>
                  <a:ext cx="1162059" cy="4153690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</p:grpSp>
          <p:sp>
            <p:nvSpPr>
              <p:cNvPr id="35" name="Rectangle 34"/>
              <p:cNvSpPr/>
              <p:nvPr/>
            </p:nvSpPr>
            <p:spPr>
              <a:xfrm>
                <a:off x="4224464" y="2111406"/>
                <a:ext cx="6359184" cy="378526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</p:grpSp>
        <p:cxnSp>
          <p:nvCxnSpPr>
            <p:cNvPr id="38" name="Connecteur droit 37"/>
            <p:cNvCxnSpPr/>
            <p:nvPr/>
          </p:nvCxnSpPr>
          <p:spPr>
            <a:xfrm>
              <a:off x="4213571" y="2408198"/>
              <a:ext cx="7114495" cy="0"/>
            </a:xfrm>
            <a:prstGeom prst="line">
              <a:avLst/>
            </a:prstGeom>
            <a:ln>
              <a:solidFill>
                <a:srgbClr val="E7E9E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4" name="Rectangle 43"/>
          <p:cNvSpPr/>
          <p:nvPr/>
        </p:nvSpPr>
        <p:spPr>
          <a:xfrm>
            <a:off x="7187920" y="4705378"/>
            <a:ext cx="4448600" cy="9233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fr-FR" sz="600" b="1" u="sng" dirty="0">
                <a:solidFill>
                  <a:srgbClr val="85C0F9"/>
                </a:solidFill>
              </a:rPr>
              <a:t>https://pdn-patrimonia.unicaen.fr/iejp/france/inventaires/Bretagne/Finistere/FRIEJP_INVFinistere.xml/FRIEJP_INVFinistere_J191.html</a:t>
            </a:r>
          </a:p>
        </p:txBody>
      </p:sp>
      <p:pic>
        <p:nvPicPr>
          <p:cNvPr id="2" name="Image 1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893103" y="1589433"/>
            <a:ext cx="7238905" cy="3250121"/>
          </a:xfrm>
          <a:prstGeom prst="rect">
            <a:avLst/>
          </a:prstGeom>
          <a:ln>
            <a:solidFill>
              <a:srgbClr val="CFD1A7"/>
            </a:solidFill>
          </a:ln>
        </p:spPr>
      </p:pic>
    </p:spTree>
    <p:extLst>
      <p:ext uri="{BB962C8B-B14F-4D97-AF65-F5344CB8AC3E}">
        <p14:creationId xmlns:p14="http://schemas.microsoft.com/office/powerpoint/2010/main" val="37420540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04167E-6 3.33333E-6 L -0.53464 -0.2419 " pathEditMode="relative" rAng="0" ptsTypes="AA">
                                      <p:cBhvr>
                                        <p:cTn id="26" dur="2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6732" y="-1210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9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0" fill="hold">
                      <p:stCondLst>
                        <p:cond delay="0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  <p:seq concurrent="1" nextAc="seek">
              <p:cTn id="54" restart="whenNotActive" fill="hold" evtFilter="cancelBubble" nodeType="interactiveSeq">
                <p:stCondLst>
                  <p:cond evt="onClick" delay="0">
                    <p:tgtEl>
                      <p:spTgt spid="3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" fill="hold">
                      <p:stCondLst>
                        <p:cond delay="0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0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3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9"/>
                  </p:tgtEl>
                </p:cond>
              </p:nextCondLst>
            </p:seq>
          </p:childTnLst>
        </p:cTn>
      </p:par>
    </p:tnLst>
    <p:bldLst>
      <p:bldP spid="21" grpId="0" animBg="1"/>
      <p:bldP spid="4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Image 2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9864" y="114396"/>
            <a:ext cx="7700871" cy="6743604"/>
          </a:xfrm>
          <a:prstGeom prst="rect">
            <a:avLst/>
          </a:prstGeom>
        </p:spPr>
      </p:pic>
      <p:pic>
        <p:nvPicPr>
          <p:cNvPr id="31" name="Image 30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10735" y="5636815"/>
            <a:ext cx="2286000" cy="12211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77039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EVR1 : Atlantic </a:t>
            </a:r>
            <a:r>
              <a:rPr lang="fr-FR" dirty="0" err="1"/>
              <a:t>Coast</a:t>
            </a:r>
            <a:r>
              <a:rPr lang="fr-FR" dirty="0"/>
              <a:t> Route </a:t>
            </a:r>
          </a:p>
        </p:txBody>
      </p:sp>
      <p:pic>
        <p:nvPicPr>
          <p:cNvPr id="7" name="Espace réservé du contenu 6"/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2161617" y="1546900"/>
            <a:ext cx="3267119" cy="4521461"/>
          </a:xfrm>
          <a:prstGeom prst="rect">
            <a:avLst/>
          </a:prstGeom>
        </p:spPr>
      </p:pic>
      <p:pic>
        <p:nvPicPr>
          <p:cNvPr id="8" name="Espace réservé du contenu 7"/>
          <p:cNvPicPr>
            <a:picLocks noGrp="1" noChangeAspect="1"/>
          </p:cNvPicPr>
          <p:nvPr>
            <p:ph sz="quarter" idx="4"/>
          </p:nvPr>
        </p:nvPicPr>
        <p:blipFill>
          <a:blip r:embed="rId3"/>
          <a:stretch>
            <a:fillRect/>
          </a:stretch>
        </p:blipFill>
        <p:spPr>
          <a:xfrm>
            <a:off x="7820739" y="1568255"/>
            <a:ext cx="2303564" cy="4500106"/>
          </a:xfrm>
          <a:prstGeom prst="rect">
            <a:avLst/>
          </a:prstGeom>
        </p:spPr>
      </p:pic>
      <p:sp>
        <p:nvSpPr>
          <p:cNvPr id="10" name="Ellipse 9"/>
          <p:cNvSpPr/>
          <p:nvPr/>
        </p:nvSpPr>
        <p:spPr>
          <a:xfrm>
            <a:off x="2545492" y="4557789"/>
            <a:ext cx="1046205" cy="963827"/>
          </a:xfrm>
          <a:prstGeom prst="ellipse">
            <a:avLst/>
          </a:prstGeom>
          <a:solidFill>
            <a:srgbClr val="5B9BD5">
              <a:alpha val="20000"/>
            </a:srgbClr>
          </a:solidFill>
          <a:ln>
            <a:solidFill>
              <a:srgbClr val="5B9BD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12" name="Connecteur droit avec flèche 11"/>
          <p:cNvCxnSpPr/>
          <p:nvPr/>
        </p:nvCxnSpPr>
        <p:spPr>
          <a:xfrm flipV="1">
            <a:off x="3591697" y="3939951"/>
            <a:ext cx="4077730" cy="972065"/>
          </a:xfrm>
          <a:prstGeom prst="straightConnector1">
            <a:avLst/>
          </a:prstGeom>
          <a:ln w="25400">
            <a:headEnd w="med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Image 14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6494" y="6410131"/>
            <a:ext cx="339109" cy="339109"/>
          </a:xfrm>
          <a:prstGeom prst="rect">
            <a:avLst/>
          </a:prstGeom>
          <a:solidFill>
            <a:srgbClr val="00B050"/>
          </a:solidFill>
        </p:spPr>
      </p:pic>
      <p:pic>
        <p:nvPicPr>
          <p:cNvPr id="17" name="Image 16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92754" y="6414137"/>
            <a:ext cx="339109" cy="339109"/>
          </a:xfrm>
          <a:prstGeom prst="rect">
            <a:avLst/>
          </a:prstGeom>
        </p:spPr>
      </p:pic>
      <p:sp>
        <p:nvSpPr>
          <p:cNvPr id="18" name="ZoneTexte 17"/>
          <p:cNvSpPr txBox="1"/>
          <p:nvPr/>
        </p:nvSpPr>
        <p:spPr>
          <a:xfrm>
            <a:off x="492966" y="6410131"/>
            <a:ext cx="17997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smtClean="0"/>
              <a:t>NOTJR IEJP 5 kms</a:t>
            </a:r>
            <a:endParaRPr lang="fr-FR" dirty="0"/>
          </a:p>
        </p:txBody>
      </p:sp>
      <p:sp>
        <p:nvSpPr>
          <p:cNvPr id="19" name="ZoneTexte 18"/>
          <p:cNvSpPr txBox="1"/>
          <p:nvPr/>
        </p:nvSpPr>
        <p:spPr>
          <a:xfrm>
            <a:off x="2566546" y="6399025"/>
            <a:ext cx="13051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smtClean="0"/>
              <a:t>JR MC 5kms</a:t>
            </a:r>
            <a:endParaRPr lang="fr-FR" dirty="0"/>
          </a:p>
        </p:txBody>
      </p:sp>
      <p:pic>
        <p:nvPicPr>
          <p:cNvPr id="22" name="Image 21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61760" y="6399025"/>
            <a:ext cx="287962" cy="354221"/>
          </a:xfrm>
          <a:prstGeom prst="rect">
            <a:avLst/>
          </a:prstGeom>
        </p:spPr>
      </p:pic>
      <p:sp>
        <p:nvSpPr>
          <p:cNvPr id="23" name="ZoneTexte 22"/>
          <p:cNvSpPr txBox="1"/>
          <p:nvPr/>
        </p:nvSpPr>
        <p:spPr>
          <a:xfrm>
            <a:off x="4194677" y="6391469"/>
            <a:ext cx="14221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smtClean="0"/>
              <a:t>JR MC 10kms</a:t>
            </a:r>
            <a:endParaRPr lang="fr-FR" dirty="0"/>
          </a:p>
        </p:txBody>
      </p:sp>
      <p:sp>
        <p:nvSpPr>
          <p:cNvPr id="24" name="ZoneTexte 23"/>
          <p:cNvSpPr txBox="1"/>
          <p:nvPr/>
        </p:nvSpPr>
        <p:spPr>
          <a:xfrm>
            <a:off x="7032173" y="6015404"/>
            <a:ext cx="5159827" cy="1015663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fr-FR" sz="6000" kern="1600" dirty="0" smtClean="0">
                <a:solidFill>
                  <a:srgbClr val="C4C4C4"/>
                </a:solidFill>
                <a:latin typeface="DilleniaUPC" panose="02020603050405020304" pitchFamily="18" charset="-34"/>
                <a:cs typeface="DilleniaUPC" panose="02020603050405020304" pitchFamily="18" charset="-34"/>
              </a:rPr>
              <a:t>A l’étude (non définitif)</a:t>
            </a:r>
            <a:endParaRPr lang="fr-FR" sz="6000" kern="1600" dirty="0">
              <a:solidFill>
                <a:srgbClr val="C4C4C4"/>
              </a:solidFill>
              <a:latin typeface="DilleniaUPC" panose="02020603050405020304" pitchFamily="18" charset="-34"/>
              <a:cs typeface="DilleniaUPC" panose="02020603050405020304" pitchFamily="18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15936954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EVR5 </a:t>
            </a:r>
            <a:r>
              <a:rPr lang="fr-FR" dirty="0"/>
              <a:t>: </a:t>
            </a:r>
            <a:r>
              <a:rPr lang="fr-FR" dirty="0" smtClean="0"/>
              <a:t>Via </a:t>
            </a:r>
            <a:r>
              <a:rPr lang="fr-FR" dirty="0" err="1" smtClean="0"/>
              <a:t>Romea</a:t>
            </a:r>
            <a:r>
              <a:rPr lang="fr-FR" dirty="0" smtClean="0"/>
              <a:t> (via </a:t>
            </a:r>
            <a:r>
              <a:rPr lang="fr-FR" dirty="0" err="1" smtClean="0"/>
              <a:t>Francigena</a:t>
            </a:r>
            <a:r>
              <a:rPr lang="fr-FR" dirty="0" smtClean="0"/>
              <a:t>)</a:t>
            </a:r>
            <a:endParaRPr lang="fr-FR" dirty="0"/>
          </a:p>
        </p:txBody>
      </p:sp>
      <p:pic>
        <p:nvPicPr>
          <p:cNvPr id="3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53" y="1568255"/>
            <a:ext cx="5045744" cy="4500106"/>
          </a:xfrm>
          <a:prstGeom prst="rect">
            <a:avLst/>
          </a:prstGeom>
        </p:spPr>
      </p:pic>
      <p:sp>
        <p:nvSpPr>
          <p:cNvPr id="10" name="Ellipse 9"/>
          <p:cNvSpPr/>
          <p:nvPr/>
        </p:nvSpPr>
        <p:spPr>
          <a:xfrm>
            <a:off x="2549499" y="2384978"/>
            <a:ext cx="1046205" cy="963827"/>
          </a:xfrm>
          <a:prstGeom prst="ellipse">
            <a:avLst/>
          </a:prstGeom>
          <a:solidFill>
            <a:srgbClr val="5B9BD5">
              <a:alpha val="20000"/>
            </a:srgbClr>
          </a:solidFill>
          <a:ln>
            <a:solidFill>
              <a:srgbClr val="5B9BD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6" name="Espace réservé du contenu 5"/>
          <p:cNvPicPr>
            <a:picLocks noGrp="1" noChangeAspect="1"/>
          </p:cNvPicPr>
          <p:nvPr>
            <p:ph sz="quarter" idx="4"/>
          </p:nvPr>
        </p:nvPicPr>
        <p:blipFill>
          <a:blip r:embed="rId3"/>
          <a:stretch>
            <a:fillRect/>
          </a:stretch>
        </p:blipFill>
        <p:spPr>
          <a:xfrm>
            <a:off x="7752997" y="1560385"/>
            <a:ext cx="2473353" cy="4507975"/>
          </a:xfrm>
          <a:prstGeom prst="rect">
            <a:avLst/>
          </a:prstGeom>
        </p:spPr>
      </p:pic>
      <p:cxnSp>
        <p:nvCxnSpPr>
          <p:cNvPr id="12" name="Connecteur droit avec flèche 11"/>
          <p:cNvCxnSpPr/>
          <p:nvPr/>
        </p:nvCxnSpPr>
        <p:spPr>
          <a:xfrm>
            <a:off x="3595704" y="2929163"/>
            <a:ext cx="3999539" cy="569812"/>
          </a:xfrm>
          <a:prstGeom prst="straightConnector1">
            <a:avLst/>
          </a:prstGeom>
          <a:ln w="25400">
            <a:headEnd w="med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ZoneTexte 16"/>
          <p:cNvSpPr txBox="1"/>
          <p:nvPr/>
        </p:nvSpPr>
        <p:spPr>
          <a:xfrm>
            <a:off x="7032173" y="6015404"/>
            <a:ext cx="5159827" cy="1015663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fr-FR" sz="6000" kern="1600" dirty="0" smtClean="0">
                <a:solidFill>
                  <a:srgbClr val="C4C4C4"/>
                </a:solidFill>
                <a:latin typeface="DilleniaUPC" panose="02020603050405020304" pitchFamily="18" charset="-34"/>
                <a:cs typeface="DilleniaUPC" panose="02020603050405020304" pitchFamily="18" charset="-34"/>
              </a:rPr>
              <a:t>A l’étude (non définitif)</a:t>
            </a:r>
            <a:endParaRPr lang="fr-FR" sz="6000" kern="1600" dirty="0">
              <a:solidFill>
                <a:srgbClr val="C4C4C4"/>
              </a:solidFill>
              <a:latin typeface="DilleniaUPC" panose="02020603050405020304" pitchFamily="18" charset="-34"/>
              <a:cs typeface="DilleniaUPC" panose="02020603050405020304" pitchFamily="18" charset="-34"/>
            </a:endParaRPr>
          </a:p>
        </p:txBody>
      </p:sp>
      <p:pic>
        <p:nvPicPr>
          <p:cNvPr id="18" name="Image 17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6494" y="6410131"/>
            <a:ext cx="339109" cy="339109"/>
          </a:xfrm>
          <a:prstGeom prst="rect">
            <a:avLst/>
          </a:prstGeom>
          <a:solidFill>
            <a:srgbClr val="00B050"/>
          </a:solidFill>
        </p:spPr>
      </p:pic>
      <p:pic>
        <p:nvPicPr>
          <p:cNvPr id="19" name="Image 18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92754" y="6414137"/>
            <a:ext cx="339109" cy="339109"/>
          </a:xfrm>
          <a:prstGeom prst="rect">
            <a:avLst/>
          </a:prstGeom>
        </p:spPr>
      </p:pic>
      <p:sp>
        <p:nvSpPr>
          <p:cNvPr id="20" name="ZoneTexte 19"/>
          <p:cNvSpPr txBox="1"/>
          <p:nvPr/>
        </p:nvSpPr>
        <p:spPr>
          <a:xfrm>
            <a:off x="492966" y="6410131"/>
            <a:ext cx="17997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smtClean="0"/>
              <a:t>NOTJR IEJP 5 kms</a:t>
            </a:r>
            <a:endParaRPr lang="fr-FR" dirty="0"/>
          </a:p>
        </p:txBody>
      </p:sp>
      <p:sp>
        <p:nvSpPr>
          <p:cNvPr id="21" name="ZoneTexte 20"/>
          <p:cNvSpPr txBox="1"/>
          <p:nvPr/>
        </p:nvSpPr>
        <p:spPr>
          <a:xfrm>
            <a:off x="2566546" y="6399025"/>
            <a:ext cx="13051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smtClean="0"/>
              <a:t>JR MC 5kms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5264800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EVR19 </a:t>
            </a:r>
            <a:r>
              <a:rPr lang="fr-FR" dirty="0"/>
              <a:t>: </a:t>
            </a:r>
            <a:r>
              <a:rPr lang="fr-FR" dirty="0" smtClean="0"/>
              <a:t>La Meuse à vélo</a:t>
            </a:r>
            <a:endParaRPr lang="fr-FR" dirty="0"/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6066" y="1586935"/>
            <a:ext cx="3205433" cy="4507975"/>
          </a:xfrm>
          <a:prstGeom prst="rect">
            <a:avLst/>
          </a:prstGeom>
        </p:spPr>
      </p:pic>
      <p:sp>
        <p:nvSpPr>
          <p:cNvPr id="10" name="Ellipse 9"/>
          <p:cNvSpPr/>
          <p:nvPr/>
        </p:nvSpPr>
        <p:spPr>
          <a:xfrm>
            <a:off x="2749246" y="3762206"/>
            <a:ext cx="837127" cy="2253198"/>
          </a:xfrm>
          <a:custGeom>
            <a:avLst/>
            <a:gdLst>
              <a:gd name="connsiteX0" fmla="*/ 0 w 1046205"/>
              <a:gd name="connsiteY0" fmla="*/ 481914 h 963827"/>
              <a:gd name="connsiteX1" fmla="*/ 523103 w 1046205"/>
              <a:gd name="connsiteY1" fmla="*/ 0 h 963827"/>
              <a:gd name="connsiteX2" fmla="*/ 1046206 w 1046205"/>
              <a:gd name="connsiteY2" fmla="*/ 481914 h 963827"/>
              <a:gd name="connsiteX3" fmla="*/ 523103 w 1046205"/>
              <a:gd name="connsiteY3" fmla="*/ 963828 h 963827"/>
              <a:gd name="connsiteX4" fmla="*/ 0 w 1046205"/>
              <a:gd name="connsiteY4" fmla="*/ 481914 h 963827"/>
              <a:gd name="connsiteX0" fmla="*/ 971 w 1047177"/>
              <a:gd name="connsiteY0" fmla="*/ 481914 h 2251452"/>
              <a:gd name="connsiteX1" fmla="*/ 524074 w 1047177"/>
              <a:gd name="connsiteY1" fmla="*/ 0 h 2251452"/>
              <a:gd name="connsiteX2" fmla="*/ 1047177 w 1047177"/>
              <a:gd name="connsiteY2" fmla="*/ 481914 h 2251452"/>
              <a:gd name="connsiteX3" fmla="*/ 636041 w 1047177"/>
              <a:gd name="connsiteY3" fmla="*/ 2251452 h 2251452"/>
              <a:gd name="connsiteX4" fmla="*/ 971 w 1047177"/>
              <a:gd name="connsiteY4" fmla="*/ 481914 h 2251452"/>
              <a:gd name="connsiteX0" fmla="*/ 683 w 1037558"/>
              <a:gd name="connsiteY0" fmla="*/ 516373 h 2298252"/>
              <a:gd name="connsiteX1" fmla="*/ 523786 w 1037558"/>
              <a:gd name="connsiteY1" fmla="*/ 34459 h 2298252"/>
              <a:gd name="connsiteX2" fmla="*/ 1037558 w 1037558"/>
              <a:gd name="connsiteY2" fmla="*/ 1272152 h 2298252"/>
              <a:gd name="connsiteX3" fmla="*/ 635753 w 1037558"/>
              <a:gd name="connsiteY3" fmla="*/ 2285911 h 2298252"/>
              <a:gd name="connsiteX4" fmla="*/ 683 w 1037558"/>
              <a:gd name="connsiteY4" fmla="*/ 516373 h 2298252"/>
              <a:gd name="connsiteX0" fmla="*/ 1823 w 749449"/>
              <a:gd name="connsiteY0" fmla="*/ 1144616 h 2251914"/>
              <a:gd name="connsiteX1" fmla="*/ 235677 w 749449"/>
              <a:gd name="connsiteY1" fmla="*/ 228 h 2251914"/>
              <a:gd name="connsiteX2" fmla="*/ 749449 w 749449"/>
              <a:gd name="connsiteY2" fmla="*/ 1237921 h 2251914"/>
              <a:gd name="connsiteX3" fmla="*/ 347644 w 749449"/>
              <a:gd name="connsiteY3" fmla="*/ 2251680 h 2251914"/>
              <a:gd name="connsiteX4" fmla="*/ 1823 w 749449"/>
              <a:gd name="connsiteY4" fmla="*/ 1144616 h 2251914"/>
              <a:gd name="connsiteX0" fmla="*/ 1229 w 832830"/>
              <a:gd name="connsiteY0" fmla="*/ 683008 h 2273342"/>
              <a:gd name="connsiteX1" fmla="*/ 319058 w 832830"/>
              <a:gd name="connsiteY1" fmla="*/ 14481 h 2273342"/>
              <a:gd name="connsiteX2" fmla="*/ 832830 w 832830"/>
              <a:gd name="connsiteY2" fmla="*/ 1252174 h 2273342"/>
              <a:gd name="connsiteX3" fmla="*/ 431025 w 832830"/>
              <a:gd name="connsiteY3" fmla="*/ 2265933 h 2273342"/>
              <a:gd name="connsiteX4" fmla="*/ 1229 w 832830"/>
              <a:gd name="connsiteY4" fmla="*/ 683008 h 2273342"/>
              <a:gd name="connsiteX0" fmla="*/ 1229 w 832830"/>
              <a:gd name="connsiteY0" fmla="*/ 683008 h 2266752"/>
              <a:gd name="connsiteX1" fmla="*/ 319058 w 832830"/>
              <a:gd name="connsiteY1" fmla="*/ 14481 h 2266752"/>
              <a:gd name="connsiteX2" fmla="*/ 832830 w 832830"/>
              <a:gd name="connsiteY2" fmla="*/ 1252174 h 2266752"/>
              <a:gd name="connsiteX3" fmla="*/ 431025 w 832830"/>
              <a:gd name="connsiteY3" fmla="*/ 2265933 h 2266752"/>
              <a:gd name="connsiteX4" fmla="*/ 1229 w 832830"/>
              <a:gd name="connsiteY4" fmla="*/ 683008 h 2266752"/>
              <a:gd name="connsiteX0" fmla="*/ 5526 w 837127"/>
              <a:gd name="connsiteY0" fmla="*/ 669454 h 2253198"/>
              <a:gd name="connsiteX1" fmla="*/ 323355 w 837127"/>
              <a:gd name="connsiteY1" fmla="*/ 927 h 2253198"/>
              <a:gd name="connsiteX2" fmla="*/ 837127 w 837127"/>
              <a:gd name="connsiteY2" fmla="*/ 1238620 h 2253198"/>
              <a:gd name="connsiteX3" fmla="*/ 435322 w 837127"/>
              <a:gd name="connsiteY3" fmla="*/ 2252379 h 2253198"/>
              <a:gd name="connsiteX4" fmla="*/ 5526 w 837127"/>
              <a:gd name="connsiteY4" fmla="*/ 669454 h 22531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37127" h="2253198">
                <a:moveTo>
                  <a:pt x="5526" y="669454"/>
                </a:moveTo>
                <a:cubicBezTo>
                  <a:pt x="-13135" y="294212"/>
                  <a:pt x="-1857" y="-19289"/>
                  <a:pt x="323355" y="927"/>
                </a:cubicBezTo>
                <a:cubicBezTo>
                  <a:pt x="648567" y="21143"/>
                  <a:pt x="837127" y="972466"/>
                  <a:pt x="837127" y="1238620"/>
                </a:cubicBezTo>
                <a:cubicBezTo>
                  <a:pt x="837127" y="1504774"/>
                  <a:pt x="751204" y="2281925"/>
                  <a:pt x="435322" y="2252379"/>
                </a:cubicBezTo>
                <a:cubicBezTo>
                  <a:pt x="119440" y="2222833"/>
                  <a:pt x="24187" y="1044696"/>
                  <a:pt x="5526" y="669454"/>
                </a:cubicBezTo>
                <a:close/>
              </a:path>
            </a:pathLst>
          </a:custGeom>
          <a:solidFill>
            <a:srgbClr val="5B9BD5">
              <a:alpha val="20000"/>
            </a:srgbClr>
          </a:solidFill>
          <a:ln>
            <a:solidFill>
              <a:srgbClr val="5B9BD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12" name="Connecteur droit avec flèche 11"/>
          <p:cNvCxnSpPr/>
          <p:nvPr/>
        </p:nvCxnSpPr>
        <p:spPr>
          <a:xfrm flipV="1">
            <a:off x="3586373" y="3442987"/>
            <a:ext cx="4166624" cy="1278292"/>
          </a:xfrm>
          <a:prstGeom prst="straightConnector1">
            <a:avLst/>
          </a:prstGeom>
          <a:ln w="25400">
            <a:headEnd w="med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Espace réservé du contenu 8"/>
          <p:cNvPicPr>
            <a:picLocks noGrp="1" noChangeAspect="1"/>
          </p:cNvPicPr>
          <p:nvPr>
            <p:ph sz="quarter" idx="4"/>
          </p:nvPr>
        </p:nvPicPr>
        <p:blipFill>
          <a:blip r:embed="rId3"/>
          <a:stretch>
            <a:fillRect/>
          </a:stretch>
        </p:blipFill>
        <p:spPr>
          <a:xfrm>
            <a:off x="7870560" y="1608418"/>
            <a:ext cx="2094533" cy="4319977"/>
          </a:xfrm>
          <a:prstGeom prst="rect">
            <a:avLst/>
          </a:prstGeom>
        </p:spPr>
      </p:pic>
      <p:sp>
        <p:nvSpPr>
          <p:cNvPr id="11" name="ZoneTexte 10"/>
          <p:cNvSpPr txBox="1"/>
          <p:nvPr/>
        </p:nvSpPr>
        <p:spPr>
          <a:xfrm>
            <a:off x="7032173" y="6015404"/>
            <a:ext cx="5159827" cy="1015663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fr-FR" sz="6000" kern="1600" dirty="0" smtClean="0">
                <a:solidFill>
                  <a:srgbClr val="C4C4C4"/>
                </a:solidFill>
                <a:latin typeface="DilleniaUPC" panose="02020603050405020304" pitchFamily="18" charset="-34"/>
                <a:cs typeface="DilleniaUPC" panose="02020603050405020304" pitchFamily="18" charset="-34"/>
              </a:rPr>
              <a:t>A l’étude (non définitif)</a:t>
            </a:r>
            <a:endParaRPr lang="fr-FR" sz="6000" kern="1600" dirty="0">
              <a:solidFill>
                <a:srgbClr val="C4C4C4"/>
              </a:solidFill>
              <a:latin typeface="DilleniaUPC" panose="02020603050405020304" pitchFamily="18" charset="-34"/>
              <a:cs typeface="DilleniaUPC" panose="02020603050405020304" pitchFamily="18" charset="-34"/>
            </a:endParaRPr>
          </a:p>
        </p:txBody>
      </p:sp>
      <p:pic>
        <p:nvPicPr>
          <p:cNvPr id="17" name="Image 16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6494" y="6410131"/>
            <a:ext cx="339109" cy="339109"/>
          </a:xfrm>
          <a:prstGeom prst="rect">
            <a:avLst/>
          </a:prstGeom>
          <a:solidFill>
            <a:srgbClr val="00B050"/>
          </a:solidFill>
        </p:spPr>
      </p:pic>
      <p:pic>
        <p:nvPicPr>
          <p:cNvPr id="18" name="Image 17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92754" y="6414137"/>
            <a:ext cx="339109" cy="339109"/>
          </a:xfrm>
          <a:prstGeom prst="rect">
            <a:avLst/>
          </a:prstGeom>
        </p:spPr>
      </p:pic>
      <p:sp>
        <p:nvSpPr>
          <p:cNvPr id="19" name="ZoneTexte 18"/>
          <p:cNvSpPr txBox="1"/>
          <p:nvPr/>
        </p:nvSpPr>
        <p:spPr>
          <a:xfrm>
            <a:off x="492966" y="6410131"/>
            <a:ext cx="17997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smtClean="0"/>
              <a:t>NOTJR IEJP 5 kms</a:t>
            </a:r>
            <a:endParaRPr lang="fr-FR" dirty="0"/>
          </a:p>
        </p:txBody>
      </p:sp>
      <p:sp>
        <p:nvSpPr>
          <p:cNvPr id="20" name="ZoneTexte 19"/>
          <p:cNvSpPr txBox="1"/>
          <p:nvPr/>
        </p:nvSpPr>
        <p:spPr>
          <a:xfrm>
            <a:off x="2566546" y="6399025"/>
            <a:ext cx="13051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smtClean="0"/>
              <a:t>JR MC 5kms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6542439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re 1"/>
          <p:cNvSpPr>
            <a:spLocks noGrp="1"/>
          </p:cNvSpPr>
          <p:nvPr>
            <p:ph type="title"/>
          </p:nvPr>
        </p:nvSpPr>
        <p:spPr>
          <a:xfrm>
            <a:off x="833800" y="289249"/>
            <a:ext cx="10515600" cy="759428"/>
          </a:xfrm>
        </p:spPr>
        <p:txBody>
          <a:bodyPr>
            <a:normAutofit/>
          </a:bodyPr>
          <a:lstStyle/>
          <a:p>
            <a:r>
              <a:rPr lang="fr-FR" sz="3200" dirty="0" smtClean="0">
                <a:solidFill>
                  <a:srgbClr val="00B050"/>
                </a:solidFill>
              </a:rPr>
              <a:t>Suivi des Mises à Jour base </a:t>
            </a:r>
            <a:r>
              <a:rPr lang="fr-FR" sz="3200" dirty="0" err="1" smtClean="0">
                <a:solidFill>
                  <a:srgbClr val="00B050"/>
                </a:solidFill>
              </a:rPr>
              <a:t>JRs</a:t>
            </a:r>
            <a:r>
              <a:rPr lang="fr-FR" sz="3200" dirty="0" smtClean="0">
                <a:solidFill>
                  <a:srgbClr val="00B050"/>
                </a:solidFill>
              </a:rPr>
              <a:t> MC</a:t>
            </a:r>
            <a:endParaRPr lang="fr-FR" sz="3200" dirty="0">
              <a:solidFill>
                <a:srgbClr val="00B050"/>
              </a:solidFill>
            </a:endParaRPr>
          </a:p>
        </p:txBody>
      </p:sp>
      <p:pic>
        <p:nvPicPr>
          <p:cNvPr id="8" name="Imag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8360" y="997346"/>
            <a:ext cx="10247118" cy="586065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38100">
            <a:solidFill>
              <a:schemeClr val="accent4">
                <a:lumMod val="40000"/>
                <a:lumOff val="60000"/>
              </a:schemeClr>
            </a:solidFill>
          </a:ln>
        </p:spPr>
      </p:pic>
      <p:sp>
        <p:nvSpPr>
          <p:cNvPr id="9" name="Ellipse 8"/>
          <p:cNvSpPr/>
          <p:nvPr/>
        </p:nvSpPr>
        <p:spPr>
          <a:xfrm>
            <a:off x="1840374" y="3582955"/>
            <a:ext cx="389644" cy="400332"/>
          </a:xfrm>
          <a:prstGeom prst="ellipse">
            <a:avLst/>
          </a:prstGeom>
          <a:solidFill>
            <a:schemeClr val="accent4">
              <a:alpha val="30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" name="Ellipse 9"/>
          <p:cNvSpPr/>
          <p:nvPr/>
        </p:nvSpPr>
        <p:spPr>
          <a:xfrm>
            <a:off x="1143687" y="6273281"/>
            <a:ext cx="890385" cy="400332"/>
          </a:xfrm>
          <a:prstGeom prst="ellipse">
            <a:avLst/>
          </a:prstGeom>
          <a:solidFill>
            <a:schemeClr val="accent4">
              <a:alpha val="30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12" name="Connecteur droit avec flèche 11"/>
          <p:cNvCxnSpPr/>
          <p:nvPr/>
        </p:nvCxnSpPr>
        <p:spPr>
          <a:xfrm flipH="1">
            <a:off x="2230018" y="3334407"/>
            <a:ext cx="438537" cy="326571"/>
          </a:xfrm>
          <a:prstGeom prst="straightConnector1">
            <a:avLst/>
          </a:prstGeom>
          <a:ln w="38100"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necteur droit avec flèche 12"/>
          <p:cNvCxnSpPr/>
          <p:nvPr/>
        </p:nvCxnSpPr>
        <p:spPr>
          <a:xfrm flipH="1">
            <a:off x="2010749" y="5831362"/>
            <a:ext cx="438537" cy="326571"/>
          </a:xfrm>
          <a:prstGeom prst="straightConnector1">
            <a:avLst/>
          </a:prstGeom>
          <a:ln w="38100"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Imag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71675" y="892142"/>
            <a:ext cx="10953750" cy="5381625"/>
          </a:xfrm>
          <a:prstGeom prst="rect">
            <a:avLst/>
          </a:prstGeom>
          <a:ln w="38100">
            <a:solidFill>
              <a:schemeClr val="accent1">
                <a:lumMod val="60000"/>
                <a:lumOff val="40000"/>
              </a:schemeClr>
            </a:solidFill>
          </a:ln>
        </p:spPr>
      </p:pic>
      <p:pic>
        <p:nvPicPr>
          <p:cNvPr id="3" name="Imag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69702" y="4931766"/>
            <a:ext cx="10801350" cy="5467350"/>
          </a:xfrm>
          <a:prstGeom prst="rect">
            <a:avLst/>
          </a:prstGeom>
        </p:spPr>
      </p:pic>
      <p:pic>
        <p:nvPicPr>
          <p:cNvPr id="4" name="Image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71947" y="5653394"/>
            <a:ext cx="9963150" cy="2228850"/>
          </a:xfrm>
          <a:prstGeom prst="rect">
            <a:avLst/>
          </a:prstGeom>
        </p:spPr>
      </p:pic>
      <p:sp>
        <p:nvSpPr>
          <p:cNvPr id="11" name="Ellipse 10"/>
          <p:cNvSpPr/>
          <p:nvPr/>
        </p:nvSpPr>
        <p:spPr>
          <a:xfrm>
            <a:off x="5734264" y="4068549"/>
            <a:ext cx="389644" cy="400332"/>
          </a:xfrm>
          <a:prstGeom prst="ellipse">
            <a:avLst/>
          </a:prstGeom>
          <a:solidFill>
            <a:schemeClr val="accent1">
              <a:lumMod val="40000"/>
              <a:lumOff val="60000"/>
              <a:alpha val="3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14" name="Connecteur droit avec flèche 13"/>
          <p:cNvCxnSpPr/>
          <p:nvPr/>
        </p:nvCxnSpPr>
        <p:spPr>
          <a:xfrm flipH="1">
            <a:off x="6123908" y="3820001"/>
            <a:ext cx="438537" cy="326571"/>
          </a:xfrm>
          <a:prstGeom prst="straightConnector1">
            <a:avLst/>
          </a:prstGeom>
          <a:ln w="38100">
            <a:solidFill>
              <a:schemeClr val="accent1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Ellipse 14"/>
          <p:cNvSpPr/>
          <p:nvPr/>
        </p:nvSpPr>
        <p:spPr>
          <a:xfrm>
            <a:off x="5953532" y="4965977"/>
            <a:ext cx="389644" cy="400332"/>
          </a:xfrm>
          <a:prstGeom prst="ellipse">
            <a:avLst/>
          </a:prstGeom>
          <a:solidFill>
            <a:schemeClr val="accent1">
              <a:lumMod val="40000"/>
              <a:lumOff val="60000"/>
              <a:alpha val="3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16" name="Connecteur droit avec flèche 15"/>
          <p:cNvCxnSpPr/>
          <p:nvPr/>
        </p:nvCxnSpPr>
        <p:spPr>
          <a:xfrm flipH="1">
            <a:off x="6343176" y="4717429"/>
            <a:ext cx="438537" cy="326571"/>
          </a:xfrm>
          <a:prstGeom prst="straightConnector1">
            <a:avLst/>
          </a:prstGeom>
          <a:ln w="38100">
            <a:solidFill>
              <a:schemeClr val="accent1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Ellipse 16"/>
          <p:cNvSpPr/>
          <p:nvPr/>
        </p:nvSpPr>
        <p:spPr>
          <a:xfrm>
            <a:off x="6883556" y="6099965"/>
            <a:ext cx="389644" cy="400332"/>
          </a:xfrm>
          <a:prstGeom prst="ellipse">
            <a:avLst/>
          </a:prstGeom>
          <a:solidFill>
            <a:schemeClr val="accent1">
              <a:lumMod val="40000"/>
              <a:lumOff val="60000"/>
              <a:alpha val="3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18" name="Connecteur droit avec flèche 17"/>
          <p:cNvCxnSpPr/>
          <p:nvPr/>
        </p:nvCxnSpPr>
        <p:spPr>
          <a:xfrm flipH="1">
            <a:off x="7273200" y="5851417"/>
            <a:ext cx="438537" cy="326571"/>
          </a:xfrm>
          <a:prstGeom prst="straightConnector1">
            <a:avLst/>
          </a:prstGeom>
          <a:ln w="38100">
            <a:solidFill>
              <a:schemeClr val="accent1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1233182" y="1699748"/>
            <a:ext cx="800890" cy="169753"/>
          </a:xfrm>
          <a:prstGeom prst="rect">
            <a:avLst/>
          </a:prstGeom>
          <a:solidFill>
            <a:srgbClr val="FFECB2">
              <a:alpha val="3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9" name="Rectangle 18"/>
          <p:cNvSpPr/>
          <p:nvPr/>
        </p:nvSpPr>
        <p:spPr>
          <a:xfrm>
            <a:off x="4571501" y="2061186"/>
            <a:ext cx="1241469" cy="178161"/>
          </a:xfrm>
          <a:prstGeom prst="rect">
            <a:avLst/>
          </a:prstGeom>
          <a:solidFill>
            <a:schemeClr val="accent1">
              <a:lumMod val="40000"/>
              <a:lumOff val="60000"/>
              <a:alpha val="3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20" name="Connecteur droit 19"/>
          <p:cNvCxnSpPr/>
          <p:nvPr/>
        </p:nvCxnSpPr>
        <p:spPr>
          <a:xfrm>
            <a:off x="4369702" y="6273281"/>
            <a:ext cx="0" cy="1900335"/>
          </a:xfrm>
          <a:prstGeom prst="line">
            <a:avLst/>
          </a:prstGeom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401039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14500"/>
            <a:ext cx="12192000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47393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682</TotalTime>
  <Words>412</Words>
  <Application>Microsoft Office PowerPoint</Application>
  <PresentationFormat>Grand écran</PresentationFormat>
  <Paragraphs>101</Paragraphs>
  <Slides>12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6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12</vt:i4>
      </vt:variant>
    </vt:vector>
  </HeadingPairs>
  <TitlesOfParts>
    <vt:vector size="19" baseType="lpstr">
      <vt:lpstr>Arial</vt:lpstr>
      <vt:lpstr>Calibri</vt:lpstr>
      <vt:lpstr>Calibri Light</vt:lpstr>
      <vt:lpstr>DilleniaUPC</vt:lpstr>
      <vt:lpstr>Poppins</vt:lpstr>
      <vt:lpstr>Wingdings</vt:lpstr>
      <vt:lpstr>Thème Office</vt:lpstr>
      <vt:lpstr>Cas d’usage ‘jardins le long d’un itinéraire’  Etude de l’architecture du service  </vt:lpstr>
      <vt:lpstr>Architecture de service N°1 - Service standalone</vt:lpstr>
      <vt:lpstr>Architecture de service N°2 - Délégation de la distribution des POIs</vt:lpstr>
      <vt:lpstr>Architecture de service N°3 – Factory de POIs</vt:lpstr>
      <vt:lpstr>Architecture N°3bis - Variante portail IEJP Itinéraires-jardins</vt:lpstr>
      <vt:lpstr>Présentation PowerPoint</vt:lpstr>
      <vt:lpstr>Présentation PowerPoint</vt:lpstr>
      <vt:lpstr>EVR1 : Atlantic Coast Route </vt:lpstr>
      <vt:lpstr>EVR5 : Via Romea (via Francigena)</vt:lpstr>
      <vt:lpstr>EVR19 : La Meuse à vélo</vt:lpstr>
      <vt:lpstr>Suivi des Mises à Jour base JRs MC</vt:lpstr>
      <vt:lpstr>Présentation PowerPoint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 </dc:title>
  <dc:creator>User</dc:creator>
  <cp:lastModifiedBy>User</cp:lastModifiedBy>
  <cp:revision>63</cp:revision>
  <dcterms:created xsi:type="dcterms:W3CDTF">2026-03-26T08:58:13Z</dcterms:created>
  <dcterms:modified xsi:type="dcterms:W3CDTF">2026-04-15T10:02:28Z</dcterms:modified>
</cp:coreProperties>
</file>