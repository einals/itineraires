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203864"/>
    <a:srgbClr val="FFFF00"/>
    <a:srgbClr val="1F4E79"/>
    <a:srgbClr val="85C0F9"/>
    <a:srgbClr val="89BEF8"/>
    <a:srgbClr val="E7E9EC"/>
    <a:srgbClr val="7B7E42"/>
    <a:srgbClr val="CFD1A7"/>
    <a:srgbClr val="2C7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5F52B-4755-4214-9877-607A4D1458BC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E8813-7F16-4FBD-8047-021295A08F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34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1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08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15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6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5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0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28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11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47E0-5FAA-4F78-B8AC-F6A82B2136AB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36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g"/><Relationship Id="rId3" Type="http://schemas.openxmlformats.org/officeDocument/2006/relationships/image" Target="../media/image2.jpg"/><Relationship Id="rId7" Type="http://schemas.openxmlformats.org/officeDocument/2006/relationships/image" Target="../media/image4.jpg"/><Relationship Id="rId12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uropeangardens.eu/itineraires-jardins/" TargetMode="External"/><Relationship Id="rId11" Type="http://schemas.openxmlformats.org/officeDocument/2006/relationships/image" Target="../media/image8.jpg"/><Relationship Id="rId5" Type="http://schemas.openxmlformats.org/officeDocument/2006/relationships/hyperlink" Target="https://pdn-patrimonia.unicaen.fr/iejp/france/inventaires/Bretagne/Finistere/FRIEJP_INVFinistere.xml/FRIEJP_INVFinistere_J191.html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image" Target="../media/image6.jp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Arc 13"/>
          <p:cNvSpPr/>
          <p:nvPr/>
        </p:nvSpPr>
        <p:spPr>
          <a:xfrm rot="20973310">
            <a:off x="5327406" y="2684207"/>
            <a:ext cx="1743824" cy="1689925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40961 w 1432311"/>
              <a:gd name="connsiteY0" fmla="*/ 189563 h 1605932"/>
              <a:gd name="connsiteX1" fmla="*/ 1344828 w 1432311"/>
              <a:gd name="connsiteY1" fmla="*/ 759587 h 1605932"/>
              <a:gd name="connsiteX2" fmla="*/ 1336244 w 1432311"/>
              <a:gd name="connsiteY2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40961 w 1432311"/>
              <a:gd name="connsiteY0" fmla="*/ 189563 h 1605932"/>
              <a:gd name="connsiteX1" fmla="*/ 946982 w 1432311"/>
              <a:gd name="connsiteY1" fmla="*/ 610306 h 1605932"/>
              <a:gd name="connsiteX2" fmla="*/ 1336244 w 1432311"/>
              <a:gd name="connsiteY2" fmla="*/ 1605932 h 1605932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946982 w 1432311"/>
              <a:gd name="connsiteY1" fmla="*/ 703639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946982 w 1432311"/>
              <a:gd name="connsiteY1" fmla="*/ 703639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03090 w 1432311"/>
              <a:gd name="connsiteY2" fmla="*/ 703601 h 1699265"/>
              <a:gd name="connsiteX3" fmla="*/ 1336244 w 1432311"/>
              <a:gd name="connsiteY3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65242 w 1432311"/>
              <a:gd name="connsiteY2" fmla="*/ 762877 h 1699265"/>
              <a:gd name="connsiteX3" fmla="*/ 1336244 w 1432311"/>
              <a:gd name="connsiteY3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67262 w 1432311"/>
              <a:gd name="connsiteY2" fmla="*/ 800124 h 1699265"/>
              <a:gd name="connsiteX3" fmla="*/ 1336244 w 1432311"/>
              <a:gd name="connsiteY3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67262 w 1432311"/>
              <a:gd name="connsiteY1" fmla="*/ 800124 h 1699265"/>
              <a:gd name="connsiteX2" fmla="*/ 1336244 w 1432311"/>
              <a:gd name="connsiteY2" fmla="*/ 1699265 h 1699265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67262 w 1432311"/>
              <a:gd name="connsiteY0" fmla="*/ 706791 h 1605932"/>
              <a:gd name="connsiteX1" fmla="*/ 1336244 w 1432311"/>
              <a:gd name="connsiteY1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67262 w 1432311"/>
              <a:gd name="connsiteY0" fmla="*/ 706791 h 1605932"/>
              <a:gd name="connsiteX1" fmla="*/ 1101354 w 1432311"/>
              <a:gd name="connsiteY1" fmla="*/ 790795 h 1605932"/>
              <a:gd name="connsiteX2" fmla="*/ 1336244 w 1432311"/>
              <a:gd name="connsiteY2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67262 w 1432311"/>
              <a:gd name="connsiteY0" fmla="*/ 706791 h 1605932"/>
              <a:gd name="connsiteX1" fmla="*/ 1208038 w 1432311"/>
              <a:gd name="connsiteY1" fmla="*/ 970018 h 1605932"/>
              <a:gd name="connsiteX2" fmla="*/ 1336244 w 1432311"/>
              <a:gd name="connsiteY2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67262 w 1432311"/>
              <a:gd name="connsiteY0" fmla="*/ 706791 h 1605932"/>
              <a:gd name="connsiteX1" fmla="*/ 1208038 w 1432311"/>
              <a:gd name="connsiteY1" fmla="*/ 970018 h 1605932"/>
              <a:gd name="connsiteX2" fmla="*/ 1336244 w 1432311"/>
              <a:gd name="connsiteY2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67262 w 1432311"/>
              <a:gd name="connsiteY0" fmla="*/ 706791 h 1605932"/>
              <a:gd name="connsiteX1" fmla="*/ 1208038 w 1432311"/>
              <a:gd name="connsiteY1" fmla="*/ 970018 h 1605932"/>
              <a:gd name="connsiteX2" fmla="*/ 1336244 w 1432311"/>
              <a:gd name="connsiteY2" fmla="*/ 1605932 h 160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2311" h="1605932" stroke="0" extrusionOk="0">
                <a:moveTo>
                  <a:pt x="0" y="0"/>
                </a:moveTo>
                <a:cubicBezTo>
                  <a:pt x="227297" y="0"/>
                  <a:pt x="1137572" y="525413"/>
                  <a:pt x="1344828" y="759587"/>
                </a:cubicBezTo>
                <a:cubicBezTo>
                  <a:pt x="1552084" y="993761"/>
                  <a:pt x="1338412" y="1225855"/>
                  <a:pt x="1243536" y="1405043"/>
                </a:cubicBezTo>
                <a:lnTo>
                  <a:pt x="873659" y="918295"/>
                </a:lnTo>
                <a:cubicBezTo>
                  <a:pt x="873659" y="665104"/>
                  <a:pt x="0" y="253191"/>
                  <a:pt x="0" y="0"/>
                </a:cubicBezTo>
                <a:close/>
              </a:path>
              <a:path w="1432311" h="1605932" fill="none">
                <a:moveTo>
                  <a:pt x="1067262" y="706791"/>
                </a:moveTo>
                <a:lnTo>
                  <a:pt x="1208038" y="970018"/>
                </a:lnTo>
                <a:cubicBezTo>
                  <a:pt x="1350288" y="1342644"/>
                  <a:pt x="1335993" y="1442575"/>
                  <a:pt x="1336244" y="1605932"/>
                </a:cubicBezTo>
              </a:path>
            </a:pathLst>
          </a:custGeom>
          <a:ln w="3175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Forme libre 66"/>
          <p:cNvSpPr/>
          <p:nvPr/>
        </p:nvSpPr>
        <p:spPr>
          <a:xfrm>
            <a:off x="1375646" y="1650775"/>
            <a:ext cx="3827533" cy="2362875"/>
          </a:xfrm>
          <a:custGeom>
            <a:avLst/>
            <a:gdLst>
              <a:gd name="connsiteX0" fmla="*/ 3787072 w 3884177"/>
              <a:gd name="connsiteY0" fmla="*/ 0 h 2314322"/>
              <a:gd name="connsiteX1" fmla="*/ 1917812 w 3884177"/>
              <a:gd name="connsiteY1" fmla="*/ 0 h 2314322"/>
              <a:gd name="connsiteX2" fmla="*/ 1893536 w 3884177"/>
              <a:gd name="connsiteY2" fmla="*/ 1189529 h 2314322"/>
              <a:gd name="connsiteX3" fmla="*/ 0 w 3884177"/>
              <a:gd name="connsiteY3" fmla="*/ 1213806 h 2314322"/>
              <a:gd name="connsiteX4" fmla="*/ 56644 w 3884177"/>
              <a:gd name="connsiteY4" fmla="*/ 2314322 h 2314322"/>
              <a:gd name="connsiteX5" fmla="*/ 2128205 w 3884177"/>
              <a:gd name="connsiteY5" fmla="*/ 2298138 h 2314322"/>
              <a:gd name="connsiteX6" fmla="*/ 2120113 w 3884177"/>
              <a:gd name="connsiteY6" fmla="*/ 1731696 h 2314322"/>
              <a:gd name="connsiteX7" fmla="*/ 3884177 w 3884177"/>
              <a:gd name="connsiteY7" fmla="*/ 1715512 h 2314322"/>
              <a:gd name="connsiteX8" fmla="*/ 3787072 w 3884177"/>
              <a:gd name="connsiteY8" fmla="*/ 0 h 2314322"/>
              <a:gd name="connsiteX0" fmla="*/ 3738520 w 3835625"/>
              <a:gd name="connsiteY0" fmla="*/ 0 h 2314322"/>
              <a:gd name="connsiteX1" fmla="*/ 1869260 w 3835625"/>
              <a:gd name="connsiteY1" fmla="*/ 0 h 2314322"/>
              <a:gd name="connsiteX2" fmla="*/ 1844984 w 3835625"/>
              <a:gd name="connsiteY2" fmla="*/ 1189529 h 2314322"/>
              <a:gd name="connsiteX3" fmla="*/ 0 w 3835625"/>
              <a:gd name="connsiteY3" fmla="*/ 1335186 h 2314322"/>
              <a:gd name="connsiteX4" fmla="*/ 8092 w 3835625"/>
              <a:gd name="connsiteY4" fmla="*/ 2314322 h 2314322"/>
              <a:gd name="connsiteX5" fmla="*/ 2079653 w 3835625"/>
              <a:gd name="connsiteY5" fmla="*/ 2298138 h 2314322"/>
              <a:gd name="connsiteX6" fmla="*/ 2071561 w 3835625"/>
              <a:gd name="connsiteY6" fmla="*/ 1731696 h 2314322"/>
              <a:gd name="connsiteX7" fmla="*/ 3835625 w 3835625"/>
              <a:gd name="connsiteY7" fmla="*/ 1715512 h 2314322"/>
              <a:gd name="connsiteX8" fmla="*/ 3738520 w 3835625"/>
              <a:gd name="connsiteY8" fmla="*/ 0 h 2314322"/>
              <a:gd name="connsiteX0" fmla="*/ 3738520 w 3835625"/>
              <a:gd name="connsiteY0" fmla="*/ 0 h 2314322"/>
              <a:gd name="connsiteX1" fmla="*/ 1869260 w 3835625"/>
              <a:gd name="connsiteY1" fmla="*/ 0 h 2314322"/>
              <a:gd name="connsiteX2" fmla="*/ 1893536 w 3835625"/>
              <a:gd name="connsiteY2" fmla="*/ 1319001 h 2314322"/>
              <a:gd name="connsiteX3" fmla="*/ 0 w 3835625"/>
              <a:gd name="connsiteY3" fmla="*/ 1335186 h 2314322"/>
              <a:gd name="connsiteX4" fmla="*/ 8092 w 3835625"/>
              <a:gd name="connsiteY4" fmla="*/ 2314322 h 2314322"/>
              <a:gd name="connsiteX5" fmla="*/ 2079653 w 3835625"/>
              <a:gd name="connsiteY5" fmla="*/ 2298138 h 2314322"/>
              <a:gd name="connsiteX6" fmla="*/ 2071561 w 3835625"/>
              <a:gd name="connsiteY6" fmla="*/ 1731696 h 2314322"/>
              <a:gd name="connsiteX7" fmla="*/ 3835625 w 3835625"/>
              <a:gd name="connsiteY7" fmla="*/ 1715512 h 2314322"/>
              <a:gd name="connsiteX8" fmla="*/ 3738520 w 3835625"/>
              <a:gd name="connsiteY8" fmla="*/ 0 h 2314322"/>
              <a:gd name="connsiteX0" fmla="*/ 3787073 w 3835625"/>
              <a:gd name="connsiteY0" fmla="*/ 0 h 2322414"/>
              <a:gd name="connsiteX1" fmla="*/ 1869260 w 3835625"/>
              <a:gd name="connsiteY1" fmla="*/ 8092 h 2322414"/>
              <a:gd name="connsiteX2" fmla="*/ 1893536 w 3835625"/>
              <a:gd name="connsiteY2" fmla="*/ 1327093 h 2322414"/>
              <a:gd name="connsiteX3" fmla="*/ 0 w 3835625"/>
              <a:gd name="connsiteY3" fmla="*/ 1343278 h 2322414"/>
              <a:gd name="connsiteX4" fmla="*/ 8092 w 3835625"/>
              <a:gd name="connsiteY4" fmla="*/ 2322414 h 2322414"/>
              <a:gd name="connsiteX5" fmla="*/ 2079653 w 3835625"/>
              <a:gd name="connsiteY5" fmla="*/ 2306230 h 2322414"/>
              <a:gd name="connsiteX6" fmla="*/ 2071561 w 3835625"/>
              <a:gd name="connsiteY6" fmla="*/ 1739788 h 2322414"/>
              <a:gd name="connsiteX7" fmla="*/ 3835625 w 3835625"/>
              <a:gd name="connsiteY7" fmla="*/ 1723604 h 2322414"/>
              <a:gd name="connsiteX8" fmla="*/ 3787073 w 3835625"/>
              <a:gd name="connsiteY8" fmla="*/ 0 h 2322414"/>
              <a:gd name="connsiteX0" fmla="*/ 3787073 w 3827533"/>
              <a:gd name="connsiteY0" fmla="*/ 0 h 2322414"/>
              <a:gd name="connsiteX1" fmla="*/ 1869260 w 3827533"/>
              <a:gd name="connsiteY1" fmla="*/ 8092 h 2322414"/>
              <a:gd name="connsiteX2" fmla="*/ 1893536 w 3827533"/>
              <a:gd name="connsiteY2" fmla="*/ 1327093 h 2322414"/>
              <a:gd name="connsiteX3" fmla="*/ 0 w 3827533"/>
              <a:gd name="connsiteY3" fmla="*/ 1343278 h 2322414"/>
              <a:gd name="connsiteX4" fmla="*/ 8092 w 3827533"/>
              <a:gd name="connsiteY4" fmla="*/ 2322414 h 2322414"/>
              <a:gd name="connsiteX5" fmla="*/ 2079653 w 3827533"/>
              <a:gd name="connsiteY5" fmla="*/ 2306230 h 2322414"/>
              <a:gd name="connsiteX6" fmla="*/ 2071561 w 3827533"/>
              <a:gd name="connsiteY6" fmla="*/ 1739788 h 2322414"/>
              <a:gd name="connsiteX7" fmla="*/ 3827533 w 3827533"/>
              <a:gd name="connsiteY7" fmla="*/ 1723604 h 2322414"/>
              <a:gd name="connsiteX8" fmla="*/ 3787073 w 3827533"/>
              <a:gd name="connsiteY8" fmla="*/ 0 h 2322414"/>
              <a:gd name="connsiteX0" fmla="*/ 3787073 w 3827533"/>
              <a:gd name="connsiteY0" fmla="*/ 0 h 2346691"/>
              <a:gd name="connsiteX1" fmla="*/ 1869260 w 3827533"/>
              <a:gd name="connsiteY1" fmla="*/ 8092 h 2346691"/>
              <a:gd name="connsiteX2" fmla="*/ 1893536 w 3827533"/>
              <a:gd name="connsiteY2" fmla="*/ 1327093 h 2346691"/>
              <a:gd name="connsiteX3" fmla="*/ 0 w 3827533"/>
              <a:gd name="connsiteY3" fmla="*/ 1343278 h 2346691"/>
              <a:gd name="connsiteX4" fmla="*/ 8092 w 3827533"/>
              <a:gd name="connsiteY4" fmla="*/ 2322414 h 2346691"/>
              <a:gd name="connsiteX5" fmla="*/ 2079653 w 3827533"/>
              <a:gd name="connsiteY5" fmla="*/ 2346691 h 2346691"/>
              <a:gd name="connsiteX6" fmla="*/ 2071561 w 3827533"/>
              <a:gd name="connsiteY6" fmla="*/ 1739788 h 2346691"/>
              <a:gd name="connsiteX7" fmla="*/ 3827533 w 3827533"/>
              <a:gd name="connsiteY7" fmla="*/ 1723604 h 2346691"/>
              <a:gd name="connsiteX8" fmla="*/ 3787073 w 3827533"/>
              <a:gd name="connsiteY8" fmla="*/ 0 h 2346691"/>
              <a:gd name="connsiteX0" fmla="*/ 3787073 w 3827533"/>
              <a:gd name="connsiteY0" fmla="*/ 0 h 2362875"/>
              <a:gd name="connsiteX1" fmla="*/ 1869260 w 3827533"/>
              <a:gd name="connsiteY1" fmla="*/ 8092 h 2362875"/>
              <a:gd name="connsiteX2" fmla="*/ 1893536 w 3827533"/>
              <a:gd name="connsiteY2" fmla="*/ 1327093 h 2362875"/>
              <a:gd name="connsiteX3" fmla="*/ 0 w 3827533"/>
              <a:gd name="connsiteY3" fmla="*/ 1343278 h 2362875"/>
              <a:gd name="connsiteX4" fmla="*/ 24276 w 3827533"/>
              <a:gd name="connsiteY4" fmla="*/ 2362875 h 2362875"/>
              <a:gd name="connsiteX5" fmla="*/ 2079653 w 3827533"/>
              <a:gd name="connsiteY5" fmla="*/ 2346691 h 2362875"/>
              <a:gd name="connsiteX6" fmla="*/ 2071561 w 3827533"/>
              <a:gd name="connsiteY6" fmla="*/ 1739788 h 2362875"/>
              <a:gd name="connsiteX7" fmla="*/ 3827533 w 3827533"/>
              <a:gd name="connsiteY7" fmla="*/ 1723604 h 2362875"/>
              <a:gd name="connsiteX8" fmla="*/ 3787073 w 3827533"/>
              <a:gd name="connsiteY8" fmla="*/ 0 h 2362875"/>
              <a:gd name="connsiteX0" fmla="*/ 3811349 w 3827533"/>
              <a:gd name="connsiteY0" fmla="*/ 0 h 2362875"/>
              <a:gd name="connsiteX1" fmla="*/ 1869260 w 3827533"/>
              <a:gd name="connsiteY1" fmla="*/ 8092 h 2362875"/>
              <a:gd name="connsiteX2" fmla="*/ 1893536 w 3827533"/>
              <a:gd name="connsiteY2" fmla="*/ 1327093 h 2362875"/>
              <a:gd name="connsiteX3" fmla="*/ 0 w 3827533"/>
              <a:gd name="connsiteY3" fmla="*/ 1343278 h 2362875"/>
              <a:gd name="connsiteX4" fmla="*/ 24276 w 3827533"/>
              <a:gd name="connsiteY4" fmla="*/ 2362875 h 2362875"/>
              <a:gd name="connsiteX5" fmla="*/ 2079653 w 3827533"/>
              <a:gd name="connsiteY5" fmla="*/ 2346691 h 2362875"/>
              <a:gd name="connsiteX6" fmla="*/ 2071561 w 3827533"/>
              <a:gd name="connsiteY6" fmla="*/ 1739788 h 2362875"/>
              <a:gd name="connsiteX7" fmla="*/ 3827533 w 3827533"/>
              <a:gd name="connsiteY7" fmla="*/ 1723604 h 2362875"/>
              <a:gd name="connsiteX8" fmla="*/ 3811349 w 3827533"/>
              <a:gd name="connsiteY8" fmla="*/ 0 h 236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7533" h="2362875">
                <a:moveTo>
                  <a:pt x="3811349" y="0"/>
                </a:moveTo>
                <a:lnTo>
                  <a:pt x="1869260" y="8092"/>
                </a:lnTo>
                <a:lnTo>
                  <a:pt x="1893536" y="1327093"/>
                </a:lnTo>
                <a:lnTo>
                  <a:pt x="0" y="1343278"/>
                </a:lnTo>
                <a:cubicBezTo>
                  <a:pt x="2697" y="1669657"/>
                  <a:pt x="21579" y="2036496"/>
                  <a:pt x="24276" y="2362875"/>
                </a:cubicBezTo>
                <a:lnTo>
                  <a:pt x="2079653" y="2346691"/>
                </a:lnTo>
                <a:lnTo>
                  <a:pt x="2071561" y="1739788"/>
                </a:lnTo>
                <a:lnTo>
                  <a:pt x="3827533" y="1723604"/>
                </a:lnTo>
                <a:lnTo>
                  <a:pt x="3811349" y="0"/>
                </a:lnTo>
                <a:close/>
              </a:path>
            </a:pathLst>
          </a:custGeom>
          <a:solidFill>
            <a:srgbClr val="548235">
              <a:alpha val="9020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63" y="3052635"/>
            <a:ext cx="1357014" cy="762287"/>
          </a:xfrm>
          <a:prstGeom prst="rect">
            <a:avLst/>
          </a:prstGeom>
          <a:ln w="15875">
            <a:noFill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4496" y="-100944"/>
            <a:ext cx="11516496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</a:t>
            </a:r>
            <a:r>
              <a:rPr lang="fr-FR" sz="3200" dirty="0" smtClean="0">
                <a:solidFill>
                  <a:srgbClr val="00B050"/>
                </a:solidFill>
              </a:rPr>
              <a:t>de service du cas d’usage ‘Jardins le long d’un itinéraire’</a:t>
            </a:r>
            <a:br>
              <a:rPr lang="fr-FR" sz="3200" dirty="0" smtClean="0">
                <a:solidFill>
                  <a:srgbClr val="00B050"/>
                </a:solidFill>
              </a:rPr>
            </a:br>
            <a:r>
              <a:rPr lang="fr-FR" sz="2200" dirty="0" smtClean="0">
                <a:solidFill>
                  <a:srgbClr val="00B050"/>
                </a:solidFill>
              </a:rPr>
              <a:t>Portail </a:t>
            </a:r>
            <a:r>
              <a:rPr lang="fr-FR" sz="2200" dirty="0" smtClean="0">
                <a:solidFill>
                  <a:srgbClr val="00B050"/>
                </a:solidFill>
              </a:rPr>
              <a:t>IEJP </a:t>
            </a:r>
            <a:r>
              <a:rPr lang="fr-FR" sz="2200" dirty="0">
                <a:solidFill>
                  <a:srgbClr val="00B050"/>
                </a:solidFill>
              </a:rPr>
              <a:t>Itinéraire-jardin et </a:t>
            </a:r>
            <a:r>
              <a:rPr lang="fr-FR" sz="2200" dirty="0" smtClean="0">
                <a:solidFill>
                  <a:srgbClr val="00B050"/>
                </a:solidFill>
              </a:rPr>
              <a:t>délégation </a:t>
            </a:r>
            <a:r>
              <a:rPr lang="fr-FR" sz="2200" dirty="0">
                <a:solidFill>
                  <a:srgbClr val="00B050"/>
                </a:solidFill>
              </a:rPr>
              <a:t>de la distribution des </a:t>
            </a:r>
            <a:r>
              <a:rPr lang="fr-FR" sz="2200" dirty="0" err="1">
                <a:solidFill>
                  <a:srgbClr val="00B050"/>
                </a:solidFill>
              </a:rPr>
              <a:t>POIs</a:t>
            </a:r>
            <a:r>
              <a:rPr lang="fr-FR" sz="2200" dirty="0">
                <a:solidFill>
                  <a:srgbClr val="00B050"/>
                </a:solidFill>
              </a:rPr>
              <a:t> </a:t>
            </a:r>
            <a:endParaRPr lang="fr-FR" sz="2200" dirty="0">
              <a:solidFill>
                <a:srgbClr val="00B050"/>
              </a:solidFill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5" y="1990994"/>
            <a:ext cx="1458913" cy="906062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cxnSp>
        <p:nvCxnSpPr>
          <p:cNvPr id="42" name="Connecteur droit avec flèche 41"/>
          <p:cNvCxnSpPr/>
          <p:nvPr/>
        </p:nvCxnSpPr>
        <p:spPr>
          <a:xfrm flipH="1" flipV="1">
            <a:off x="4892600" y="3409123"/>
            <a:ext cx="700990" cy="919661"/>
          </a:xfrm>
          <a:prstGeom prst="straightConnector1">
            <a:avLst/>
          </a:prstGeom>
          <a:ln w="12700">
            <a:solidFill>
              <a:srgbClr val="7030A0"/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hlinkClick r:id="rId5"/>
          </p:cNvPr>
          <p:cNvSpPr txBox="1"/>
          <p:nvPr/>
        </p:nvSpPr>
        <p:spPr>
          <a:xfrm rot="3135666">
            <a:off x="4721672" y="3721870"/>
            <a:ext cx="787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</a:t>
            </a:r>
            <a:r>
              <a:rPr lang="fr-F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fr-FR" sz="1600" u="sng" dirty="0" err="1" smtClean="0">
                <a:solidFill>
                  <a:srgbClr val="FF0000"/>
                </a:solidFill>
                <a:sym typeface="Wingdings" panose="05000000000000000000" pitchFamily="2" charset="2"/>
                <a:hlinkClick r:id="rId6"/>
              </a:rPr>
              <a:t>POIs</a:t>
            </a:r>
            <a:endParaRPr lang="fr-FR" sz="1600" dirty="0">
              <a:solidFill>
                <a:srgbClr val="FF0000"/>
              </a:solidFill>
            </a:endParaRPr>
          </a:p>
        </p:txBody>
      </p:sp>
      <p:grpSp>
        <p:nvGrpSpPr>
          <p:cNvPr id="44" name="Groupe 43"/>
          <p:cNvGrpSpPr/>
          <p:nvPr/>
        </p:nvGrpSpPr>
        <p:grpSpPr>
          <a:xfrm rot="15110632">
            <a:off x="306821" y="3476742"/>
            <a:ext cx="1490451" cy="427216"/>
            <a:chOff x="3109477" y="4855984"/>
            <a:chExt cx="3725432" cy="427216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5"/>
            </p:cNvPr>
            <p:cNvSpPr txBox="1"/>
            <p:nvPr/>
          </p:nvSpPr>
          <p:spPr>
            <a:xfrm rot="21538134">
              <a:off x="3109477" y="4855984"/>
              <a:ext cx="37147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ctr">
                <a:lnSpc>
                  <a:spcPts val="1200"/>
                </a:lnSpc>
                <a:buFont typeface="Wingdings" panose="05000000000000000000" pitchFamily="2" charset="2"/>
                <a:buChar char=""/>
              </a:pPr>
              <a:r>
                <a:rPr lang="fr-FR" sz="1600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Portail IEJP</a:t>
              </a:r>
            </a:p>
            <a:p>
              <a:pPr algn="ctr">
                <a:lnSpc>
                  <a:spcPts val="1200"/>
                </a:lnSpc>
              </a:pPr>
              <a:r>
                <a:rPr lang="fr-FR" sz="1600" dirty="0" err="1" smtClean="0">
                  <a:solidFill>
                    <a:srgbClr val="FF0000"/>
                  </a:solidFill>
                  <a:sym typeface="Wingdings" panose="05000000000000000000" pitchFamily="2" charset="2"/>
                </a:rPr>
                <a:t>Itineraire</a:t>
              </a:r>
              <a:r>
                <a:rPr lang="fr-FR" sz="1600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-jardin</a:t>
              </a:r>
              <a:endParaRPr lang="fr-FR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290497" y="1485814"/>
            <a:ext cx="39015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IEJP</a:t>
            </a:r>
            <a:r>
              <a:rPr lang="fr-FR" dirty="0" smtClean="0"/>
              <a:t>/</a:t>
            </a:r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fournisseurs GPX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u="dashLongHeavy" dirty="0" smtClean="0">
                <a:uFill>
                  <a:solidFill>
                    <a:srgbClr val="7030A0"/>
                  </a:solidFill>
                </a:uFill>
              </a:rPr>
              <a:t>Offline et partiellement manuel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K"/>
            </a:pPr>
            <a:r>
              <a:rPr lang="fr-FR" dirty="0" smtClean="0"/>
              <a:t>Fiches inventaires identifiées à mettre à jour manuellement à la demande </a:t>
            </a:r>
            <a:r>
              <a:rPr lang="fr-FR" dirty="0" smtClean="0"/>
              <a:t>(data </a:t>
            </a:r>
            <a:r>
              <a:rPr lang="fr-FR" dirty="0" smtClean="0"/>
              <a:t>obsolètes et/ou </a:t>
            </a:r>
            <a:r>
              <a:rPr lang="fr-FR" dirty="0" smtClean="0"/>
              <a:t>incomplètes) </a:t>
            </a:r>
            <a:r>
              <a:rPr lang="fr-FR" dirty="0" smtClean="0"/>
              <a:t>et revoir l’ergonomie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Développement informatique réduit (identification des jardins le long d’un itinéraire GPX)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Exigences moindres de support opérationnel PDN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"/>
            </a:pPr>
            <a:r>
              <a:rPr lang="fr-FR" dirty="0"/>
              <a:t>Visibilité++ </a:t>
            </a:r>
            <a:r>
              <a:rPr lang="fr-FR" dirty="0" smtClean="0"/>
              <a:t>IEJP (portail </a:t>
            </a:r>
            <a:r>
              <a:rPr lang="fr-FR" dirty="0" smtClean="0"/>
              <a:t>Itinéraire-jardin)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IEJP </a:t>
            </a:r>
            <a:r>
              <a:rPr lang="fr-FR" dirty="0" smtClean="0">
                <a:sym typeface="Wingdings" panose="05000000000000000000" pitchFamily="2" charset="2"/>
              </a:rPr>
              <a:t>en visibilité bénéficiant de la visibilité existante des fournisseurs GPX</a:t>
            </a:r>
            <a:endParaRPr lang="fr-FR" dirty="0"/>
          </a:p>
        </p:txBody>
      </p:sp>
      <p:sp>
        <p:nvSpPr>
          <p:cNvPr id="14" name="Arc 13"/>
          <p:cNvSpPr/>
          <p:nvPr/>
        </p:nvSpPr>
        <p:spPr>
          <a:xfrm rot="20973310">
            <a:off x="5308333" y="2484436"/>
            <a:ext cx="1743824" cy="1576743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40961 w 1432311"/>
              <a:gd name="connsiteY0" fmla="*/ 189563 h 1605932"/>
              <a:gd name="connsiteX1" fmla="*/ 1344828 w 1432311"/>
              <a:gd name="connsiteY1" fmla="*/ 759587 h 1605932"/>
              <a:gd name="connsiteX2" fmla="*/ 1336244 w 1432311"/>
              <a:gd name="connsiteY2" fmla="*/ 1605932 h 1605932"/>
              <a:gd name="connsiteX0" fmla="*/ 0 w 1432311"/>
              <a:gd name="connsiteY0" fmla="*/ 0 h 1605932"/>
              <a:gd name="connsiteX1" fmla="*/ 1344828 w 1432311"/>
              <a:gd name="connsiteY1" fmla="*/ 759587 h 1605932"/>
              <a:gd name="connsiteX2" fmla="*/ 1243536 w 1432311"/>
              <a:gd name="connsiteY2" fmla="*/ 1405043 h 1605932"/>
              <a:gd name="connsiteX3" fmla="*/ 873659 w 1432311"/>
              <a:gd name="connsiteY3" fmla="*/ 918295 h 1605932"/>
              <a:gd name="connsiteX4" fmla="*/ 0 w 1432311"/>
              <a:gd name="connsiteY4" fmla="*/ 0 h 1605932"/>
              <a:gd name="connsiteX0" fmla="*/ 1040961 w 1432311"/>
              <a:gd name="connsiteY0" fmla="*/ 189563 h 1605932"/>
              <a:gd name="connsiteX1" fmla="*/ 946982 w 1432311"/>
              <a:gd name="connsiteY1" fmla="*/ 610306 h 1605932"/>
              <a:gd name="connsiteX2" fmla="*/ 1336244 w 1432311"/>
              <a:gd name="connsiteY2" fmla="*/ 1605932 h 1605932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946982 w 1432311"/>
              <a:gd name="connsiteY1" fmla="*/ 703639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946982 w 1432311"/>
              <a:gd name="connsiteY1" fmla="*/ 703639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336244 w 1432311"/>
              <a:gd name="connsiteY2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03090 w 1432311"/>
              <a:gd name="connsiteY2" fmla="*/ 703601 h 1699265"/>
              <a:gd name="connsiteX3" fmla="*/ 1336244 w 1432311"/>
              <a:gd name="connsiteY3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65242 w 1432311"/>
              <a:gd name="connsiteY2" fmla="*/ 762877 h 1699265"/>
              <a:gd name="connsiteX3" fmla="*/ 1336244 w 1432311"/>
              <a:gd name="connsiteY3" fmla="*/ 1699265 h 1699265"/>
              <a:gd name="connsiteX0" fmla="*/ 0 w 1432311"/>
              <a:gd name="connsiteY0" fmla="*/ 93333 h 1699265"/>
              <a:gd name="connsiteX1" fmla="*/ 1344828 w 1432311"/>
              <a:gd name="connsiteY1" fmla="*/ 852920 h 1699265"/>
              <a:gd name="connsiteX2" fmla="*/ 1243536 w 1432311"/>
              <a:gd name="connsiteY2" fmla="*/ 1498376 h 1699265"/>
              <a:gd name="connsiteX3" fmla="*/ 873659 w 1432311"/>
              <a:gd name="connsiteY3" fmla="*/ 1011628 h 1699265"/>
              <a:gd name="connsiteX4" fmla="*/ 0 w 1432311"/>
              <a:gd name="connsiteY4" fmla="*/ 93333 h 1699265"/>
              <a:gd name="connsiteX0" fmla="*/ 59802 w 1432311"/>
              <a:gd name="connsiteY0" fmla="*/ 0 h 1699265"/>
              <a:gd name="connsiteX1" fmla="*/ 1000839 w 1432311"/>
              <a:gd name="connsiteY1" fmla="*/ 715125 h 1699265"/>
              <a:gd name="connsiteX2" fmla="*/ 1067262 w 1432311"/>
              <a:gd name="connsiteY2" fmla="*/ 800124 h 1699265"/>
              <a:gd name="connsiteX3" fmla="*/ 1336244 w 1432311"/>
              <a:gd name="connsiteY3" fmla="*/ 1699265 h 1699265"/>
              <a:gd name="connsiteX0" fmla="*/ 0 w 1432311"/>
              <a:gd name="connsiteY0" fmla="*/ 93333 h 1498376"/>
              <a:gd name="connsiteX1" fmla="*/ 1344828 w 1432311"/>
              <a:gd name="connsiteY1" fmla="*/ 852920 h 1498376"/>
              <a:gd name="connsiteX2" fmla="*/ 1243536 w 1432311"/>
              <a:gd name="connsiteY2" fmla="*/ 1498376 h 1498376"/>
              <a:gd name="connsiteX3" fmla="*/ 873659 w 1432311"/>
              <a:gd name="connsiteY3" fmla="*/ 1011628 h 1498376"/>
              <a:gd name="connsiteX4" fmla="*/ 0 w 1432311"/>
              <a:gd name="connsiteY4" fmla="*/ 93333 h 1498376"/>
              <a:gd name="connsiteX0" fmla="*/ 59802 w 1432311"/>
              <a:gd name="connsiteY0" fmla="*/ 0 h 1498376"/>
              <a:gd name="connsiteX1" fmla="*/ 1000839 w 1432311"/>
              <a:gd name="connsiteY1" fmla="*/ 715125 h 1498376"/>
              <a:gd name="connsiteX2" fmla="*/ 1067262 w 1432311"/>
              <a:gd name="connsiteY2" fmla="*/ 800124 h 149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2311" h="1498376" stroke="0" extrusionOk="0">
                <a:moveTo>
                  <a:pt x="0" y="93333"/>
                </a:moveTo>
                <a:cubicBezTo>
                  <a:pt x="227297" y="93333"/>
                  <a:pt x="1137572" y="618746"/>
                  <a:pt x="1344828" y="852920"/>
                </a:cubicBezTo>
                <a:cubicBezTo>
                  <a:pt x="1552084" y="1087094"/>
                  <a:pt x="1338412" y="1319188"/>
                  <a:pt x="1243536" y="1498376"/>
                </a:cubicBezTo>
                <a:lnTo>
                  <a:pt x="873659" y="1011628"/>
                </a:lnTo>
                <a:cubicBezTo>
                  <a:pt x="873659" y="758437"/>
                  <a:pt x="0" y="346524"/>
                  <a:pt x="0" y="93333"/>
                </a:cubicBezTo>
                <a:close/>
              </a:path>
              <a:path w="1432311" h="1498376" fill="none">
                <a:moveTo>
                  <a:pt x="59802" y="0"/>
                </a:moveTo>
                <a:cubicBezTo>
                  <a:pt x="380477" y="147341"/>
                  <a:pt x="769083" y="472662"/>
                  <a:pt x="1000839" y="715125"/>
                </a:cubicBezTo>
                <a:cubicBezTo>
                  <a:pt x="1158054" y="832392"/>
                  <a:pt x="1011361" y="636101"/>
                  <a:pt x="1067262" y="800124"/>
                </a:cubicBezTo>
              </a:path>
            </a:pathLst>
          </a:custGeom>
          <a:ln w="317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19" y="2824212"/>
            <a:ext cx="1557898" cy="10106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33" name="Connecteur droit avec flèche 32"/>
          <p:cNvCxnSpPr/>
          <p:nvPr/>
        </p:nvCxnSpPr>
        <p:spPr>
          <a:xfrm flipH="1" flipV="1">
            <a:off x="5063484" y="3290489"/>
            <a:ext cx="681069" cy="927907"/>
          </a:xfrm>
          <a:prstGeom prst="straightConnector1">
            <a:avLst/>
          </a:prstGeom>
          <a:ln w="12700">
            <a:solidFill>
              <a:srgbClr val="7030A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 rot="3236232">
            <a:off x="4929041" y="3574670"/>
            <a:ext cx="1252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</a:t>
            </a:r>
            <a:r>
              <a:rPr lang="fr-FR" sz="1600" dirty="0" smtClean="0">
                <a:sym typeface="Wingdings" panose="05000000000000000000" pitchFamily="2" charset="2"/>
              </a:rPr>
              <a:t> </a:t>
            </a:r>
            <a:r>
              <a:rPr lang="fr-F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trace GPX</a:t>
            </a:r>
            <a:endParaRPr lang="fr-FR" sz="1600" dirty="0">
              <a:solidFill>
                <a:srgbClr val="FF0000"/>
              </a:solidFill>
            </a:endParaRPr>
          </a:p>
        </p:txBody>
      </p:sp>
      <p:cxnSp>
        <p:nvCxnSpPr>
          <p:cNvPr id="49" name="Connecteur droit avec flèche 48"/>
          <p:cNvCxnSpPr/>
          <p:nvPr/>
        </p:nvCxnSpPr>
        <p:spPr>
          <a:xfrm flipV="1">
            <a:off x="5212028" y="1910243"/>
            <a:ext cx="1389836" cy="412894"/>
          </a:xfrm>
          <a:prstGeom prst="straightConnector1">
            <a:avLst/>
          </a:prstGeom>
          <a:ln w="12700">
            <a:solidFill>
              <a:srgbClr val="7030A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>
                  <a:solidFill>
                    <a:schemeClr val="accent5">
                      <a:lumMod val="50000"/>
                    </a:schemeClr>
                  </a:solidFill>
                </a:rPr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  <p:grpSp>
        <p:nvGrpSpPr>
          <p:cNvPr id="9" name="Groupe 8"/>
          <p:cNvGrpSpPr/>
          <p:nvPr/>
        </p:nvGrpSpPr>
        <p:grpSpPr>
          <a:xfrm>
            <a:off x="6660537" y="1177699"/>
            <a:ext cx="1133573" cy="1211764"/>
            <a:chOff x="3379316" y="1914826"/>
            <a:chExt cx="1133573" cy="1211764"/>
          </a:xfrm>
        </p:grpSpPr>
        <p:grpSp>
          <p:nvGrpSpPr>
            <p:cNvPr id="12" name="Groupe 11"/>
            <p:cNvGrpSpPr/>
            <p:nvPr/>
          </p:nvGrpSpPr>
          <p:grpSpPr>
            <a:xfrm>
              <a:off x="3379316" y="1914826"/>
              <a:ext cx="708387" cy="1211764"/>
              <a:chOff x="4293716" y="2150076"/>
              <a:chExt cx="708387" cy="121176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93716" y="2150076"/>
                <a:ext cx="708387" cy="873210"/>
              </a:xfrm>
              <a:prstGeom prst="rect">
                <a:avLst/>
              </a:prstGeom>
            </p:spPr>
          </p:pic>
          <p:sp>
            <p:nvSpPr>
              <p:cNvPr id="10" name="ZoneTexte 9"/>
              <p:cNvSpPr txBox="1"/>
              <p:nvPr/>
            </p:nvSpPr>
            <p:spPr>
              <a:xfrm>
                <a:off x="4293716" y="3023286"/>
                <a:ext cx="5501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 smtClean="0"/>
                  <a:t>PDN</a:t>
                </a:r>
                <a:endParaRPr lang="fr-FR" sz="1600" dirty="0"/>
              </a:p>
            </p:txBody>
          </p:sp>
        </p:grpSp>
        <p:sp>
          <p:nvSpPr>
            <p:cNvPr id="3" name="ZoneTexte 2"/>
            <p:cNvSpPr txBox="1"/>
            <p:nvPr/>
          </p:nvSpPr>
          <p:spPr>
            <a:xfrm>
              <a:off x="3645087" y="2666862"/>
              <a:ext cx="8678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 smtClean="0"/>
                <a:t>inventaires</a:t>
              </a:r>
              <a:endParaRPr lang="fr-FR" sz="1200" dirty="0"/>
            </a:p>
          </p:txBody>
        </p:sp>
      </p:grpSp>
      <p:pic>
        <p:nvPicPr>
          <p:cNvPr id="7" name="Imag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05" y="2696586"/>
            <a:ext cx="1460414" cy="485171"/>
          </a:xfrm>
          <a:prstGeom prst="rect">
            <a:avLst/>
          </a:prstGeom>
          <a:solidFill>
            <a:srgbClr val="548235">
              <a:alpha val="9020"/>
            </a:srgbClr>
          </a:solidFill>
          <a:ln w="6350">
            <a:solidFill>
              <a:schemeClr val="tx1"/>
            </a:solidFill>
          </a:ln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637" y="1872805"/>
            <a:ext cx="859088" cy="745490"/>
          </a:xfrm>
          <a:prstGeom prst="rect">
            <a:avLst/>
          </a:prstGeom>
          <a:solidFill>
            <a:srgbClr val="548235">
              <a:alpha val="9020"/>
            </a:srgbClr>
          </a:solidFill>
          <a:ln w="15875">
            <a:noFill/>
          </a:ln>
        </p:spPr>
      </p:pic>
      <p:sp>
        <p:nvSpPr>
          <p:cNvPr id="20" name="Rectangle 19"/>
          <p:cNvSpPr/>
          <p:nvPr/>
        </p:nvSpPr>
        <p:spPr>
          <a:xfrm>
            <a:off x="5744553" y="4255698"/>
            <a:ext cx="2457352" cy="2477926"/>
          </a:xfrm>
          <a:prstGeom prst="rect">
            <a:avLst/>
          </a:prstGeom>
          <a:solidFill>
            <a:srgbClr val="203864">
              <a:alpha val="10196"/>
            </a:srgbClr>
          </a:solidFill>
          <a:ln w="158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546886" y="4335221"/>
            <a:ext cx="2085653" cy="1893312"/>
          </a:xfrm>
          <a:prstGeom prst="rect">
            <a:avLst/>
          </a:prstGeom>
          <a:solidFill>
            <a:srgbClr val="FFFF00">
              <a:alpha val="10196"/>
            </a:srgbClr>
          </a:solidFill>
          <a:ln w="158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>
            <a:off x="6591220" y="2838450"/>
            <a:ext cx="371555" cy="876300"/>
          </a:xfrm>
          <a:custGeom>
            <a:avLst/>
            <a:gdLst>
              <a:gd name="connsiteX0" fmla="*/ 162005 w 371555"/>
              <a:gd name="connsiteY0" fmla="*/ 0 h 876300"/>
              <a:gd name="connsiteX1" fmla="*/ 162005 w 371555"/>
              <a:gd name="connsiteY1" fmla="*/ 0 h 876300"/>
              <a:gd name="connsiteX2" fmla="*/ 80 w 371555"/>
              <a:gd name="connsiteY2" fmla="*/ 257175 h 876300"/>
              <a:gd name="connsiteX3" fmla="*/ 133430 w 371555"/>
              <a:gd name="connsiteY3" fmla="*/ 304800 h 876300"/>
              <a:gd name="connsiteX4" fmla="*/ 133430 w 371555"/>
              <a:gd name="connsiteY4" fmla="*/ 428625 h 876300"/>
              <a:gd name="connsiteX5" fmla="*/ 114380 w 371555"/>
              <a:gd name="connsiteY5" fmla="*/ 457200 h 876300"/>
              <a:gd name="connsiteX6" fmla="*/ 123905 w 371555"/>
              <a:gd name="connsiteY6" fmla="*/ 561975 h 876300"/>
              <a:gd name="connsiteX7" fmla="*/ 142955 w 371555"/>
              <a:gd name="connsiteY7" fmla="*/ 619125 h 876300"/>
              <a:gd name="connsiteX8" fmla="*/ 133430 w 371555"/>
              <a:gd name="connsiteY8" fmla="*/ 657225 h 876300"/>
              <a:gd name="connsiteX9" fmla="*/ 114380 w 371555"/>
              <a:gd name="connsiteY9" fmla="*/ 685800 h 876300"/>
              <a:gd name="connsiteX10" fmla="*/ 104855 w 371555"/>
              <a:gd name="connsiteY10" fmla="*/ 733425 h 876300"/>
              <a:gd name="connsiteX11" fmla="*/ 114380 w 371555"/>
              <a:gd name="connsiteY11" fmla="*/ 857250 h 876300"/>
              <a:gd name="connsiteX12" fmla="*/ 152480 w 371555"/>
              <a:gd name="connsiteY12" fmla="*/ 876300 h 876300"/>
              <a:gd name="connsiteX13" fmla="*/ 266780 w 371555"/>
              <a:gd name="connsiteY13" fmla="*/ 857250 h 876300"/>
              <a:gd name="connsiteX14" fmla="*/ 314405 w 371555"/>
              <a:gd name="connsiteY14" fmla="*/ 838200 h 876300"/>
              <a:gd name="connsiteX15" fmla="*/ 362030 w 371555"/>
              <a:gd name="connsiteY15" fmla="*/ 828675 h 876300"/>
              <a:gd name="connsiteX16" fmla="*/ 371555 w 371555"/>
              <a:gd name="connsiteY16" fmla="*/ 800100 h 876300"/>
              <a:gd name="connsiteX17" fmla="*/ 352505 w 371555"/>
              <a:gd name="connsiteY17" fmla="*/ 628650 h 876300"/>
              <a:gd name="connsiteX18" fmla="*/ 342980 w 371555"/>
              <a:gd name="connsiteY18" fmla="*/ 581025 h 876300"/>
              <a:gd name="connsiteX19" fmla="*/ 323930 w 371555"/>
              <a:gd name="connsiteY19" fmla="*/ 523875 h 876300"/>
              <a:gd name="connsiteX20" fmla="*/ 333455 w 371555"/>
              <a:gd name="connsiteY20" fmla="*/ 304800 h 876300"/>
              <a:gd name="connsiteX21" fmla="*/ 352505 w 371555"/>
              <a:gd name="connsiteY21" fmla="*/ 247650 h 876300"/>
              <a:gd name="connsiteX22" fmla="*/ 333455 w 371555"/>
              <a:gd name="connsiteY22" fmla="*/ 171450 h 876300"/>
              <a:gd name="connsiteX23" fmla="*/ 304880 w 371555"/>
              <a:gd name="connsiteY23" fmla="*/ 142875 h 876300"/>
              <a:gd name="connsiteX24" fmla="*/ 266780 w 371555"/>
              <a:gd name="connsiteY24" fmla="*/ 85725 h 876300"/>
              <a:gd name="connsiteX25" fmla="*/ 276305 w 371555"/>
              <a:gd name="connsiteY25" fmla="*/ 47625 h 876300"/>
              <a:gd name="connsiteX26" fmla="*/ 257255 w 371555"/>
              <a:gd name="connsiteY26" fmla="*/ 19050 h 876300"/>
              <a:gd name="connsiteX27" fmla="*/ 162005 w 371555"/>
              <a:gd name="connsiteY27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71555" h="876300">
                <a:moveTo>
                  <a:pt x="162005" y="0"/>
                </a:moveTo>
                <a:lnTo>
                  <a:pt x="162005" y="0"/>
                </a:lnTo>
                <a:cubicBezTo>
                  <a:pt x="108030" y="85725"/>
                  <a:pt x="22393" y="158361"/>
                  <a:pt x="80" y="257175"/>
                </a:cubicBezTo>
                <a:cubicBezTo>
                  <a:pt x="-3364" y="272425"/>
                  <a:pt x="104590" y="297590"/>
                  <a:pt x="133430" y="304800"/>
                </a:cubicBezTo>
                <a:cubicBezTo>
                  <a:pt x="150486" y="355969"/>
                  <a:pt x="152086" y="347781"/>
                  <a:pt x="133430" y="428625"/>
                </a:cubicBezTo>
                <a:cubicBezTo>
                  <a:pt x="130856" y="439779"/>
                  <a:pt x="120730" y="447675"/>
                  <a:pt x="114380" y="457200"/>
                </a:cubicBezTo>
                <a:cubicBezTo>
                  <a:pt x="117555" y="492125"/>
                  <a:pt x="117811" y="527440"/>
                  <a:pt x="123905" y="561975"/>
                </a:cubicBezTo>
                <a:cubicBezTo>
                  <a:pt x="127395" y="581750"/>
                  <a:pt x="142955" y="619125"/>
                  <a:pt x="142955" y="619125"/>
                </a:cubicBezTo>
                <a:cubicBezTo>
                  <a:pt x="139780" y="631825"/>
                  <a:pt x="138587" y="645193"/>
                  <a:pt x="133430" y="657225"/>
                </a:cubicBezTo>
                <a:cubicBezTo>
                  <a:pt x="128921" y="667747"/>
                  <a:pt x="118400" y="675081"/>
                  <a:pt x="114380" y="685800"/>
                </a:cubicBezTo>
                <a:cubicBezTo>
                  <a:pt x="108696" y="700959"/>
                  <a:pt x="108030" y="717550"/>
                  <a:pt x="104855" y="733425"/>
                </a:cubicBezTo>
                <a:cubicBezTo>
                  <a:pt x="108030" y="774700"/>
                  <a:pt x="101289" y="817977"/>
                  <a:pt x="114380" y="857250"/>
                </a:cubicBezTo>
                <a:cubicBezTo>
                  <a:pt x="118870" y="870720"/>
                  <a:pt x="138281" y="876300"/>
                  <a:pt x="152480" y="876300"/>
                </a:cubicBezTo>
                <a:cubicBezTo>
                  <a:pt x="191106" y="876300"/>
                  <a:pt x="266780" y="857250"/>
                  <a:pt x="266780" y="857250"/>
                </a:cubicBezTo>
                <a:cubicBezTo>
                  <a:pt x="282655" y="850900"/>
                  <a:pt x="298028" y="843113"/>
                  <a:pt x="314405" y="838200"/>
                </a:cubicBezTo>
                <a:cubicBezTo>
                  <a:pt x="329912" y="833548"/>
                  <a:pt x="348560" y="837655"/>
                  <a:pt x="362030" y="828675"/>
                </a:cubicBezTo>
                <a:cubicBezTo>
                  <a:pt x="370384" y="823106"/>
                  <a:pt x="368380" y="809625"/>
                  <a:pt x="371555" y="800100"/>
                </a:cubicBezTo>
                <a:cubicBezTo>
                  <a:pt x="348708" y="708713"/>
                  <a:pt x="371519" y="809283"/>
                  <a:pt x="352505" y="628650"/>
                </a:cubicBezTo>
                <a:cubicBezTo>
                  <a:pt x="350810" y="612550"/>
                  <a:pt x="347240" y="596644"/>
                  <a:pt x="342980" y="581025"/>
                </a:cubicBezTo>
                <a:cubicBezTo>
                  <a:pt x="337696" y="561652"/>
                  <a:pt x="323930" y="523875"/>
                  <a:pt x="323930" y="523875"/>
                </a:cubicBezTo>
                <a:cubicBezTo>
                  <a:pt x="327105" y="450850"/>
                  <a:pt x="325934" y="377506"/>
                  <a:pt x="333455" y="304800"/>
                </a:cubicBezTo>
                <a:cubicBezTo>
                  <a:pt x="335521" y="284826"/>
                  <a:pt x="352505" y="247650"/>
                  <a:pt x="352505" y="247650"/>
                </a:cubicBezTo>
                <a:cubicBezTo>
                  <a:pt x="351131" y="240780"/>
                  <a:pt x="341823" y="184002"/>
                  <a:pt x="333455" y="171450"/>
                </a:cubicBezTo>
                <a:cubicBezTo>
                  <a:pt x="325983" y="160242"/>
                  <a:pt x="313150" y="153508"/>
                  <a:pt x="304880" y="142875"/>
                </a:cubicBezTo>
                <a:cubicBezTo>
                  <a:pt x="290824" y="124803"/>
                  <a:pt x="266780" y="85725"/>
                  <a:pt x="266780" y="85725"/>
                </a:cubicBezTo>
                <a:cubicBezTo>
                  <a:pt x="269955" y="73025"/>
                  <a:pt x="278156" y="60584"/>
                  <a:pt x="276305" y="47625"/>
                </a:cubicBezTo>
                <a:cubicBezTo>
                  <a:pt x="274686" y="36292"/>
                  <a:pt x="266194" y="26201"/>
                  <a:pt x="257255" y="19050"/>
                </a:cubicBezTo>
                <a:cubicBezTo>
                  <a:pt x="237819" y="3501"/>
                  <a:pt x="177880" y="3175"/>
                  <a:pt x="162005" y="0"/>
                </a:cubicBezTo>
                <a:close/>
              </a:path>
            </a:pathLst>
          </a:custGeom>
          <a:solidFill>
            <a:srgbClr val="548235">
              <a:alpha val="2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Forme libre 53"/>
          <p:cNvSpPr/>
          <p:nvPr/>
        </p:nvSpPr>
        <p:spPr>
          <a:xfrm>
            <a:off x="6977262" y="2924175"/>
            <a:ext cx="366513" cy="771525"/>
          </a:xfrm>
          <a:custGeom>
            <a:avLst/>
            <a:gdLst>
              <a:gd name="connsiteX0" fmla="*/ 204588 w 366513"/>
              <a:gd name="connsiteY0" fmla="*/ 0 h 771525"/>
              <a:gd name="connsiteX1" fmla="*/ 204588 w 366513"/>
              <a:gd name="connsiteY1" fmla="*/ 0 h 771525"/>
              <a:gd name="connsiteX2" fmla="*/ 23613 w 366513"/>
              <a:gd name="connsiteY2" fmla="*/ 85725 h 771525"/>
              <a:gd name="connsiteX3" fmla="*/ 52188 w 366513"/>
              <a:gd name="connsiteY3" fmla="*/ 276225 h 771525"/>
              <a:gd name="connsiteX4" fmla="*/ 137913 w 366513"/>
              <a:gd name="connsiteY4" fmla="*/ 619125 h 771525"/>
              <a:gd name="connsiteX5" fmla="*/ 185538 w 366513"/>
              <a:gd name="connsiteY5" fmla="*/ 771525 h 771525"/>
              <a:gd name="connsiteX6" fmla="*/ 318888 w 366513"/>
              <a:gd name="connsiteY6" fmla="*/ 676275 h 771525"/>
              <a:gd name="connsiteX7" fmla="*/ 366513 w 366513"/>
              <a:gd name="connsiteY7" fmla="*/ 533400 h 771525"/>
              <a:gd name="connsiteX8" fmla="*/ 280788 w 366513"/>
              <a:gd name="connsiteY8" fmla="*/ 295275 h 771525"/>
              <a:gd name="connsiteX9" fmla="*/ 337938 w 366513"/>
              <a:gd name="connsiteY9" fmla="*/ 171450 h 771525"/>
              <a:gd name="connsiteX10" fmla="*/ 204588 w 366513"/>
              <a:gd name="connsiteY10" fmla="*/ 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6513" h="771525">
                <a:moveTo>
                  <a:pt x="204588" y="0"/>
                </a:moveTo>
                <a:lnTo>
                  <a:pt x="204588" y="0"/>
                </a:lnTo>
                <a:cubicBezTo>
                  <a:pt x="9919" y="77868"/>
                  <a:pt x="-34272" y="27840"/>
                  <a:pt x="23613" y="85725"/>
                </a:cubicBezTo>
                <a:lnTo>
                  <a:pt x="52188" y="276225"/>
                </a:lnTo>
                <a:lnTo>
                  <a:pt x="137913" y="619125"/>
                </a:lnTo>
                <a:lnTo>
                  <a:pt x="185538" y="771525"/>
                </a:lnTo>
                <a:lnTo>
                  <a:pt x="318888" y="676275"/>
                </a:lnTo>
                <a:lnTo>
                  <a:pt x="366513" y="533400"/>
                </a:lnTo>
                <a:lnTo>
                  <a:pt x="280788" y="295275"/>
                </a:lnTo>
                <a:lnTo>
                  <a:pt x="337938" y="171450"/>
                </a:lnTo>
                <a:lnTo>
                  <a:pt x="204588" y="0"/>
                </a:lnTo>
                <a:close/>
              </a:path>
            </a:pathLst>
          </a:custGeom>
          <a:solidFill>
            <a:srgbClr val="1F4E79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/>
          <p:cNvSpPr txBox="1"/>
          <p:nvPr/>
        </p:nvSpPr>
        <p:spPr>
          <a:xfrm>
            <a:off x="1370332" y="3780325"/>
            <a:ext cx="2153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accent6">
                    <a:lumMod val="75000"/>
                  </a:schemeClr>
                </a:solidFill>
              </a:rPr>
              <a:t>https//europeangardens.eu/</a:t>
            </a:r>
            <a:r>
              <a:rPr lang="fr-FR" sz="800" dirty="0" err="1" smtClean="0">
                <a:solidFill>
                  <a:schemeClr val="accent6">
                    <a:lumMod val="75000"/>
                  </a:schemeClr>
                </a:solidFill>
              </a:rPr>
              <a:t>itineraire</a:t>
            </a:r>
            <a:r>
              <a:rPr lang="fr-FR" sz="800" dirty="0" smtClean="0">
                <a:solidFill>
                  <a:schemeClr val="accent6">
                    <a:lumMod val="75000"/>
                  </a:schemeClr>
                </a:solidFill>
              </a:rPr>
              <a:t>-jardin/</a:t>
            </a:r>
            <a:endParaRPr lang="fr-F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2652777" y="4673597"/>
            <a:ext cx="3043547" cy="350664"/>
            <a:chOff x="3567177" y="4908847"/>
            <a:chExt cx="3043547" cy="350664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567177" y="5259510"/>
              <a:ext cx="3043547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r>
                <a:rPr lang="fr-FR" sz="1600" dirty="0" smtClean="0">
                  <a:sym typeface="Wingdings" panose="05000000000000000000" pitchFamily="2" charset="2"/>
                </a:rPr>
                <a:t> </a:t>
              </a:r>
              <a:r>
                <a:rPr lang="fr-FR" sz="1600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Trace GPX + </a:t>
              </a:r>
              <a:r>
                <a:rPr lang="fr-FR" sz="1600" u="sng" dirty="0" err="1">
                  <a:solidFill>
                    <a:srgbClr val="FF000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93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112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Thème Office</vt:lpstr>
      <vt:lpstr>Architecture de service du cas d’usage ‘Jardins le long d’un itinéraire’ Portail IEJP Itinéraire-jardin et délégation de la distribution des POIs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User</dc:creator>
  <cp:lastModifiedBy>User</cp:lastModifiedBy>
  <cp:revision>80</cp:revision>
  <dcterms:created xsi:type="dcterms:W3CDTF">2026-03-26T08:58:13Z</dcterms:created>
  <dcterms:modified xsi:type="dcterms:W3CDTF">2026-06-15T08:37:43Z</dcterms:modified>
</cp:coreProperties>
</file>