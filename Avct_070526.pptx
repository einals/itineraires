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6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C0F9"/>
    <a:srgbClr val="89BEF8"/>
    <a:srgbClr val="E7E9EC"/>
    <a:srgbClr val="7B7E42"/>
    <a:srgbClr val="CFD1A7"/>
    <a:srgbClr val="2C79BF"/>
    <a:srgbClr val="00B050"/>
    <a:srgbClr val="FFECB2"/>
    <a:srgbClr val="E6E6E6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5F52B-4755-4214-9877-607A4D1458BC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E8813-7F16-4FBD-8047-021295A08F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341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1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08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15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4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96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5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0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28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1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11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A47E0-5FAA-4F78-B8AC-F6A82B2136AB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36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9.png"/><Relationship Id="rId5" Type="http://schemas.openxmlformats.org/officeDocument/2006/relationships/image" Target="../media/image4.jpg"/><Relationship Id="rId10" Type="http://schemas.openxmlformats.org/officeDocument/2006/relationships/image" Target="../media/image8.jpg"/><Relationship Id="rId4" Type="http://schemas.openxmlformats.org/officeDocument/2006/relationships/image" Target="../media/image3.jp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0.jpg"/><Relationship Id="rId3" Type="http://schemas.openxmlformats.org/officeDocument/2006/relationships/image" Target="../media/image2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8.jpg"/><Relationship Id="rId5" Type="http://schemas.openxmlformats.org/officeDocument/2006/relationships/image" Target="../media/image4.jp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0.jpg"/><Relationship Id="rId3" Type="http://schemas.openxmlformats.org/officeDocument/2006/relationships/image" Target="../media/image3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hateaudecanon.com/" TargetMode="External"/><Relationship Id="rId11" Type="http://schemas.openxmlformats.org/officeDocument/2006/relationships/image" Target="../media/image8.jpg"/><Relationship Id="rId5" Type="http://schemas.openxmlformats.org/officeDocument/2006/relationships/image" Target="../media/image5.jpg"/><Relationship Id="rId10" Type="http://schemas.openxmlformats.org/officeDocument/2006/relationships/image" Target="../media/image7.png"/><Relationship Id="rId4" Type="http://schemas.openxmlformats.org/officeDocument/2006/relationships/image" Target="../media/image4.jpg"/><Relationship Id="rId9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9.png"/><Relationship Id="rId3" Type="http://schemas.openxmlformats.org/officeDocument/2006/relationships/image" Target="../media/image3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uropeangardens.eu/itineraires-jardins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5.jpg"/><Relationship Id="rId1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4.jpg"/><Relationship Id="rId9" Type="http://schemas.openxmlformats.org/officeDocument/2006/relationships/image" Target="../media/image13.png"/><Relationship Id="rId1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slide" Target="slide8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slide" Target="slide9.xml"/><Relationship Id="rId5" Type="http://schemas.openxmlformats.org/officeDocument/2006/relationships/image" Target="../media/image30.png"/><Relationship Id="rId15" Type="http://schemas.openxmlformats.org/officeDocument/2006/relationships/image" Target="../media/image38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8.xml"/><Relationship Id="rId3" Type="http://schemas.openxmlformats.org/officeDocument/2006/relationships/image" Target="../media/image28.png"/><Relationship Id="rId7" Type="http://schemas.openxmlformats.org/officeDocument/2006/relationships/image" Target="../media/image39.png"/><Relationship Id="rId12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slide" Target="slide10.xml"/><Relationship Id="rId5" Type="http://schemas.openxmlformats.org/officeDocument/2006/relationships/image" Target="../media/image30.png"/><Relationship Id="rId15" Type="http://schemas.openxmlformats.org/officeDocument/2006/relationships/slide" Target="slide11.xml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41.jpeg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dirty="0">
                <a:solidFill>
                  <a:srgbClr val="00B050"/>
                </a:solidFill>
              </a:rPr>
              <a:t>Cas d’usage ‘jardins le long d’un itinéraire’ </a:t>
            </a:r>
            <a:br>
              <a:rPr lang="fr-FR" dirty="0">
                <a:solidFill>
                  <a:srgbClr val="00B050"/>
                </a:solidFill>
              </a:rPr>
            </a:br>
            <a:r>
              <a:rPr lang="fr-FR" sz="4000" dirty="0" smtClean="0">
                <a:solidFill>
                  <a:srgbClr val="00B050"/>
                </a:solidFill>
              </a:rPr>
              <a:t>Etude de l’architecture du service</a:t>
            </a:r>
            <a:r>
              <a:rPr lang="fr-FR" dirty="0"/>
              <a:t>	</a:t>
            </a:r>
            <a:r>
              <a:rPr lang="fr-FR" dirty="0" smtClean="0"/>
              <a:t>	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fr-FR" dirty="0" smtClean="0"/>
              <a:t>Sylvie Laniepce</a:t>
            </a:r>
          </a:p>
          <a:p>
            <a:pPr algn="l"/>
            <a:r>
              <a:rPr lang="fr-FR" dirty="0" smtClean="0"/>
              <a:t>19/05/26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827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91" y="3677026"/>
            <a:ext cx="1020088" cy="86920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964" y="226967"/>
            <a:ext cx="10515600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de service N°1 - Service </a:t>
            </a:r>
            <a:r>
              <a:rPr lang="fr-FR" sz="3200" dirty="0" err="1" smtClean="0">
                <a:solidFill>
                  <a:srgbClr val="00B050"/>
                </a:solidFill>
              </a:rPr>
              <a:t>standalone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2398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Trace GPX</a:t>
              </a:r>
              <a:endParaRPr lang="fr-FR" sz="1600" dirty="0"/>
            </a:p>
          </p:txBody>
        </p:sp>
      </p:grpSp>
      <p:grpSp>
        <p:nvGrpSpPr>
          <p:cNvPr id="24" name="Groupe 23"/>
          <p:cNvGrpSpPr/>
          <p:nvPr/>
        </p:nvGrpSpPr>
        <p:grpSpPr>
          <a:xfrm rot="8619606">
            <a:off x="1202929" y="3222727"/>
            <a:ext cx="2074152" cy="343934"/>
            <a:chOff x="3325091" y="5264727"/>
            <a:chExt cx="3509818" cy="343934"/>
          </a:xfrm>
        </p:grpSpPr>
        <p:cxnSp>
          <p:nvCxnSpPr>
            <p:cNvPr id="25" name="Connecteur droit avec flèche 2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/>
            <p:cNvSpPr txBox="1"/>
            <p:nvPr/>
          </p:nvSpPr>
          <p:spPr>
            <a:xfrm rot="10793811">
              <a:off x="3361395" y="5270107"/>
              <a:ext cx="34025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baseline="30000" dirty="0" smtClean="0">
                  <a:sym typeface="Wingdings" panose="05000000000000000000" pitchFamily="2" charset="2"/>
                </a:rPr>
                <a:t>(*)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29" name="Groupe 28"/>
          <p:cNvGrpSpPr/>
          <p:nvPr/>
        </p:nvGrpSpPr>
        <p:grpSpPr>
          <a:xfrm rot="19414030">
            <a:off x="1525255" y="3388909"/>
            <a:ext cx="2074152" cy="338554"/>
            <a:chOff x="3316255" y="4991183"/>
            <a:chExt cx="3509818" cy="338554"/>
          </a:xfrm>
        </p:grpSpPr>
        <p:cxnSp>
          <p:nvCxnSpPr>
            <p:cNvPr id="30" name="Connecteur droit avec flèche 29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30">
              <a:hlinkClick r:id="rId7"/>
            </p:cNvPr>
            <p:cNvSpPr txBox="1"/>
            <p:nvPr/>
          </p:nvSpPr>
          <p:spPr>
            <a:xfrm rot="21538134">
              <a:off x="4050899" y="4991183"/>
              <a:ext cx="15873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</a:rPr>
                <a:t>POIs</a:t>
              </a:r>
              <a:r>
                <a:rPr lang="fr-FR" sz="1600" baseline="30000" dirty="0" smtClean="0">
                  <a:sym typeface="Wingdings" panose="05000000000000000000" pitchFamily="2" charset="2"/>
                </a:rPr>
                <a:t>(*)</a:t>
              </a:r>
              <a:endParaRPr lang="fr-FR" sz="1600" dirty="0"/>
            </a:p>
          </p:txBody>
        </p:sp>
      </p:grpSp>
      <p:grpSp>
        <p:nvGrpSpPr>
          <p:cNvPr id="34" name="Groupe 33"/>
          <p:cNvGrpSpPr/>
          <p:nvPr/>
        </p:nvGrpSpPr>
        <p:grpSpPr>
          <a:xfrm rot="19414030">
            <a:off x="1611891" y="3628860"/>
            <a:ext cx="2204673" cy="338554"/>
            <a:chOff x="3104229" y="4991192"/>
            <a:chExt cx="3730680" cy="338554"/>
          </a:xfrm>
        </p:grpSpPr>
        <p:cxnSp>
          <p:nvCxnSpPr>
            <p:cNvPr id="35" name="Connecteur droit avec flèche 3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ZoneTexte 35">
              <a:hlinkClick r:id="rId7"/>
            </p:cNvPr>
            <p:cNvSpPr txBox="1"/>
            <p:nvPr/>
          </p:nvSpPr>
          <p:spPr>
            <a:xfrm rot="21538134">
              <a:off x="3104229" y="4991192"/>
              <a:ext cx="348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</a:t>
              </a:r>
              <a:r>
                <a:rPr lang="fr-FR" sz="1600" dirty="0" err="1" smtClean="0">
                  <a:sym typeface="Wingdings" panose="05000000000000000000" pitchFamily="2" charset="2"/>
                </a:rPr>
                <a:t>Fiche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r>
                <a:rPr lang="fr-FR" sz="1600" dirty="0" smtClean="0">
                  <a:sym typeface="Wingdings" panose="05000000000000000000" pitchFamily="2" charset="2"/>
                </a:rPr>
                <a:t> on-</a:t>
              </a:r>
              <a:r>
                <a:rPr lang="fr-FR" sz="1600" dirty="0" err="1" smtClean="0">
                  <a:sym typeface="Wingdings" panose="05000000000000000000" pitchFamily="2" charset="2"/>
                </a:rPr>
                <a:t>demand</a:t>
              </a:r>
              <a:endParaRPr lang="fr-FR" sz="1600" dirty="0"/>
            </a:p>
          </p:txBody>
        </p:sp>
      </p:grpSp>
      <p:sp>
        <p:nvSpPr>
          <p:cNvPr id="39" name="ZoneTexte 38"/>
          <p:cNvSpPr txBox="1"/>
          <p:nvPr/>
        </p:nvSpPr>
        <p:spPr>
          <a:xfrm>
            <a:off x="8370277" y="1877704"/>
            <a:ext cx="3821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On-</a:t>
            </a:r>
            <a:r>
              <a:rPr lang="fr-FR" dirty="0" err="1" smtClean="0"/>
              <a:t>demand</a:t>
            </a:r>
            <a:r>
              <a:rPr lang="fr-FR" dirty="0" smtClean="0"/>
              <a:t>, online et flexibilité totale pour l’utilisateur final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Adoption IEJP par l’utilisateur final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Développement technique++ </a:t>
            </a:r>
            <a:br>
              <a:rPr lang="fr-FR" dirty="0" smtClean="0"/>
            </a:br>
            <a:r>
              <a:rPr lang="fr-FR" dirty="0" smtClean="0"/>
              <a:t>(API, PDN </a:t>
            </a:r>
            <a:r>
              <a:rPr lang="fr-FR" i="1" dirty="0" smtClean="0"/>
              <a:t>Not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)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Inventaire à mettre à jour dans sa totalité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Ergonomie des fiches à revoir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Support opérationnel PDN (continuité de service, mise à jour, sécurité, etc..)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Visibilité++ IEJP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</a:t>
            </a:r>
            <a:r>
              <a:rPr lang="fr-FR" dirty="0" smtClean="0"/>
              <a:t>Scenario très exigeant peu réaliste</a:t>
            </a:r>
            <a:endParaRPr lang="fr-FR" dirty="0"/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4099" y="1698796"/>
            <a:ext cx="5391150" cy="2105025"/>
          </a:xfrm>
          <a:prstGeom prst="rect">
            <a:avLst/>
          </a:prstGeom>
        </p:spPr>
      </p:pic>
      <p:grpSp>
        <p:nvGrpSpPr>
          <p:cNvPr id="44" name="Groupe 43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45" name="Image 4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46" name="Image 4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47" name="Image 46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48" name="ZoneTexte 47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199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c 13"/>
          <p:cNvSpPr/>
          <p:nvPr/>
        </p:nvSpPr>
        <p:spPr>
          <a:xfrm rot="20973310">
            <a:off x="6910807" y="2647002"/>
            <a:ext cx="598439" cy="1522902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535" h="1447210" stroke="0" extrusionOk="0">
                <a:moveTo>
                  <a:pt x="0" y="0"/>
                </a:moveTo>
                <a:cubicBezTo>
                  <a:pt x="227297" y="0"/>
                  <a:pt x="423677" y="250436"/>
                  <a:pt x="471169" y="600865"/>
                </a:cubicBezTo>
                <a:cubicBezTo>
                  <a:pt x="502104" y="829125"/>
                  <a:pt x="464753" y="1067133"/>
                  <a:pt x="369877" y="1246321"/>
                </a:cubicBezTo>
                <a:lnTo>
                  <a:pt x="0" y="759573"/>
                </a:lnTo>
                <a:lnTo>
                  <a:pt x="0" y="0"/>
                </a:lnTo>
                <a:close/>
              </a:path>
              <a:path w="491535" h="1447210" fill="none">
                <a:moveTo>
                  <a:pt x="167302" y="30841"/>
                </a:moveTo>
                <a:cubicBezTo>
                  <a:pt x="394018" y="268591"/>
                  <a:pt x="423677" y="250436"/>
                  <a:pt x="471169" y="600865"/>
                </a:cubicBezTo>
                <a:cubicBezTo>
                  <a:pt x="502104" y="829125"/>
                  <a:pt x="496651" y="1246000"/>
                  <a:pt x="462585" y="1447210"/>
                </a:cubicBezTo>
              </a:path>
            </a:pathLst>
          </a:cu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91" y="3677026"/>
            <a:ext cx="1020088" cy="86920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963" y="226967"/>
            <a:ext cx="11221075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de service N°2 - Délégation de la distribution des </a:t>
            </a:r>
            <a:r>
              <a:rPr lang="fr-FR" sz="3200" dirty="0" err="1" smtClean="0">
                <a:solidFill>
                  <a:srgbClr val="00B050"/>
                </a:solidFill>
              </a:rPr>
              <a:t>POIs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808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Trace GPX + </a:t>
              </a:r>
              <a:r>
                <a:rPr lang="fr-FR" sz="1600" u="sng" dirty="0" err="1">
                  <a:solidFill>
                    <a:srgbClr val="0070C0"/>
                  </a:solidFill>
                  <a:sym typeface="Wingdings" panose="05000000000000000000" pitchFamily="2" charset="2"/>
                </a:rPr>
                <a:t>POIs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32" name="Groupe 31"/>
          <p:cNvGrpSpPr/>
          <p:nvPr/>
        </p:nvGrpSpPr>
        <p:grpSpPr>
          <a:xfrm rot="2363161">
            <a:off x="4253286" y="2994971"/>
            <a:ext cx="2132111" cy="374353"/>
            <a:chOff x="3325091" y="4908847"/>
            <a:chExt cx="3509818" cy="374353"/>
          </a:xfrm>
        </p:grpSpPr>
        <p:cxnSp>
          <p:nvCxnSpPr>
            <p:cNvPr id="33" name="Connecteur droit avec flèche 32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/>
            <p:cNvSpPr txBox="1"/>
            <p:nvPr/>
          </p:nvSpPr>
          <p:spPr>
            <a:xfrm>
              <a:off x="3612342" y="4908847"/>
              <a:ext cx="29353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grpSp>
        <p:nvGrpSpPr>
          <p:cNvPr id="41" name="Groupe 40"/>
          <p:cNvGrpSpPr/>
          <p:nvPr/>
        </p:nvGrpSpPr>
        <p:grpSpPr>
          <a:xfrm rot="2367600">
            <a:off x="4059755" y="3341904"/>
            <a:ext cx="2074152" cy="338554"/>
            <a:chOff x="3316255" y="4991183"/>
            <a:chExt cx="3509818" cy="338554"/>
          </a:xfrm>
        </p:grpSpPr>
        <p:cxnSp>
          <p:nvCxnSpPr>
            <p:cNvPr id="42" name="Connecteur droit avec flèche 41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hlinkClick r:id="rId7"/>
            </p:cNvPr>
            <p:cNvSpPr txBox="1"/>
            <p:nvPr/>
          </p:nvSpPr>
          <p:spPr>
            <a:xfrm rot="21538134">
              <a:off x="4178389" y="4991183"/>
              <a:ext cx="1332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</a:rPr>
                <a:t>POIs</a:t>
              </a:r>
              <a:endParaRPr lang="fr-FR" sz="1600" dirty="0"/>
            </a:p>
          </p:txBody>
        </p:sp>
      </p:grpSp>
      <p:cxnSp>
        <p:nvCxnSpPr>
          <p:cNvPr id="4" name="Connecteur droit avec flèche 3"/>
          <p:cNvCxnSpPr/>
          <p:nvPr/>
        </p:nvCxnSpPr>
        <p:spPr>
          <a:xfrm flipH="1">
            <a:off x="8563708" y="2169642"/>
            <a:ext cx="35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/>
          <p:cNvGrpSpPr/>
          <p:nvPr/>
        </p:nvGrpSpPr>
        <p:grpSpPr>
          <a:xfrm rot="19414030">
            <a:off x="1389579" y="3409607"/>
            <a:ext cx="2204673" cy="338554"/>
            <a:chOff x="3104229" y="4991192"/>
            <a:chExt cx="3730680" cy="338554"/>
          </a:xfrm>
        </p:grpSpPr>
        <p:cxnSp>
          <p:nvCxnSpPr>
            <p:cNvPr id="45" name="Connecteur droit avec flèche 4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hlinkClick r:id="rId7"/>
            </p:cNvPr>
            <p:cNvSpPr txBox="1"/>
            <p:nvPr/>
          </p:nvSpPr>
          <p:spPr>
            <a:xfrm rot="21538134">
              <a:off x="3104229" y="4991192"/>
              <a:ext cx="348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</a:t>
              </a:r>
              <a:r>
                <a:rPr lang="fr-FR" sz="1600" dirty="0" err="1" smtClean="0">
                  <a:sym typeface="Wingdings" panose="05000000000000000000" pitchFamily="2" charset="2"/>
                </a:rPr>
                <a:t>Fiche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r>
                <a:rPr lang="fr-FR" sz="1600" dirty="0" smtClean="0">
                  <a:sym typeface="Wingdings" panose="05000000000000000000" pitchFamily="2" charset="2"/>
                </a:rPr>
                <a:t> on-</a:t>
              </a:r>
              <a:r>
                <a:rPr lang="fr-FR" sz="1600" dirty="0" err="1" smtClean="0">
                  <a:sym typeface="Wingdings" panose="05000000000000000000" pitchFamily="2" charset="2"/>
                </a:rPr>
                <a:t>demand</a:t>
              </a:r>
              <a:endParaRPr lang="fr-FR" sz="1600" dirty="0"/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8370277" y="1877704"/>
            <a:ext cx="3821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Partenariat IEJP/fournisseurs GPX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On-</a:t>
            </a:r>
            <a:r>
              <a:rPr lang="fr-FR" dirty="0" err="1" smtClean="0"/>
              <a:t>demand</a:t>
            </a:r>
            <a:r>
              <a:rPr lang="fr-FR" dirty="0" smtClean="0"/>
              <a:t> et online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Flexibilité moindre pour l’utilisateur final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Développement technique++ </a:t>
            </a:r>
            <a:br>
              <a:rPr lang="fr-FR" dirty="0" smtClean="0"/>
            </a:br>
            <a:r>
              <a:rPr lang="fr-FR" dirty="0" smtClean="0"/>
              <a:t>(API, PDN </a:t>
            </a:r>
            <a:r>
              <a:rPr lang="fr-FR" i="1" dirty="0" smtClean="0"/>
              <a:t>Not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)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Inventaire à mettre à jour dans sa totalité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Ergonomie des fiches à revoir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Support opérationnel PDN (continuité de service, mise à jour, sécurité, etc..)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</a:t>
            </a:r>
            <a:r>
              <a:rPr lang="fr-FR" dirty="0" smtClean="0"/>
              <a:t>Scenario exigeant techniquement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00" y="2862791"/>
            <a:ext cx="1557898" cy="1010679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5525" y="1304051"/>
            <a:ext cx="5391150" cy="2105025"/>
          </a:xfrm>
          <a:prstGeom prst="rect">
            <a:avLst/>
          </a:prstGeom>
        </p:spPr>
      </p:pic>
      <p:grpSp>
        <p:nvGrpSpPr>
          <p:cNvPr id="48" name="Groupe 47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50" name="Image 49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53" name="Image 5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428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c 13"/>
          <p:cNvSpPr/>
          <p:nvPr/>
        </p:nvSpPr>
        <p:spPr>
          <a:xfrm rot="20973310">
            <a:off x="6910807" y="2647002"/>
            <a:ext cx="598439" cy="1522902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535" h="1447210" stroke="0" extrusionOk="0">
                <a:moveTo>
                  <a:pt x="0" y="0"/>
                </a:moveTo>
                <a:cubicBezTo>
                  <a:pt x="227297" y="0"/>
                  <a:pt x="423677" y="250436"/>
                  <a:pt x="471169" y="600865"/>
                </a:cubicBezTo>
                <a:cubicBezTo>
                  <a:pt x="502104" y="829125"/>
                  <a:pt x="464753" y="1067133"/>
                  <a:pt x="369877" y="1246321"/>
                </a:cubicBezTo>
                <a:lnTo>
                  <a:pt x="0" y="759573"/>
                </a:lnTo>
                <a:lnTo>
                  <a:pt x="0" y="0"/>
                </a:lnTo>
                <a:close/>
              </a:path>
              <a:path w="491535" h="1447210" fill="none">
                <a:moveTo>
                  <a:pt x="167302" y="30841"/>
                </a:moveTo>
                <a:cubicBezTo>
                  <a:pt x="394018" y="268591"/>
                  <a:pt x="423677" y="250436"/>
                  <a:pt x="471169" y="600865"/>
                </a:cubicBezTo>
                <a:cubicBezTo>
                  <a:pt x="502104" y="829125"/>
                  <a:pt x="496651" y="1246000"/>
                  <a:pt x="462585" y="1447210"/>
                </a:cubicBezTo>
              </a:path>
            </a:pathLst>
          </a:cu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964" y="226967"/>
            <a:ext cx="10515600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de service N°3 – </a:t>
            </a:r>
            <a:r>
              <a:rPr lang="fr-FR" sz="3200" dirty="0" err="1" smtClean="0">
                <a:solidFill>
                  <a:srgbClr val="00B050"/>
                </a:solidFill>
              </a:rPr>
              <a:t>Factory</a:t>
            </a:r>
            <a:r>
              <a:rPr lang="fr-FR" sz="3200" dirty="0" smtClean="0">
                <a:solidFill>
                  <a:srgbClr val="00B050"/>
                </a:solidFill>
              </a:rPr>
              <a:t> de </a:t>
            </a:r>
            <a:r>
              <a:rPr lang="fr-FR" sz="3200" dirty="0" err="1" smtClean="0">
                <a:solidFill>
                  <a:srgbClr val="00B050"/>
                </a:solidFill>
              </a:rPr>
              <a:t>POIs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808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Trace GPX + </a:t>
              </a:r>
              <a:r>
                <a:rPr lang="fr-FR" sz="1600" u="sng" dirty="0" err="1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41" name="Groupe 40"/>
          <p:cNvGrpSpPr/>
          <p:nvPr/>
        </p:nvGrpSpPr>
        <p:grpSpPr>
          <a:xfrm rot="4517574">
            <a:off x="5281557" y="3239176"/>
            <a:ext cx="1577640" cy="338554"/>
            <a:chOff x="3316255" y="4991183"/>
            <a:chExt cx="3509818" cy="338554"/>
          </a:xfrm>
        </p:grpSpPr>
        <p:cxnSp>
          <p:nvCxnSpPr>
            <p:cNvPr id="42" name="Connecteur droit avec flèche 41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hlinkClick r:id="rId7"/>
            </p:cNvPr>
            <p:cNvSpPr txBox="1"/>
            <p:nvPr/>
          </p:nvSpPr>
          <p:spPr>
            <a:xfrm rot="21496444">
              <a:off x="4178389" y="4991183"/>
              <a:ext cx="1332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cxnSp>
        <p:nvCxnSpPr>
          <p:cNvPr id="4" name="Connecteur droit avec flèche 3"/>
          <p:cNvCxnSpPr/>
          <p:nvPr/>
        </p:nvCxnSpPr>
        <p:spPr>
          <a:xfrm flipH="1">
            <a:off x="8563708" y="2169642"/>
            <a:ext cx="35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/>
          <p:cNvGrpSpPr/>
          <p:nvPr/>
        </p:nvGrpSpPr>
        <p:grpSpPr>
          <a:xfrm rot="15110632">
            <a:off x="313049" y="3541259"/>
            <a:ext cx="1682512" cy="338554"/>
            <a:chOff x="2741853" y="4991192"/>
            <a:chExt cx="4205493" cy="338554"/>
          </a:xfrm>
        </p:grpSpPr>
        <p:cxnSp>
          <p:nvCxnSpPr>
            <p:cNvPr id="45" name="Connecteur droit avec flèche 4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hlinkClick r:id="rId7"/>
            </p:cNvPr>
            <p:cNvSpPr txBox="1"/>
            <p:nvPr/>
          </p:nvSpPr>
          <p:spPr>
            <a:xfrm rot="21538134">
              <a:off x="2741853" y="4991192"/>
              <a:ext cx="42054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Site </a:t>
              </a:r>
              <a:r>
                <a:rPr lang="fr-FR" sz="1600" dirty="0" err="1" smtClean="0">
                  <a:sym typeface="Wingdings" panose="05000000000000000000" pitchFamily="2" charset="2"/>
                </a:rPr>
                <a:t>internet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endParaRPr lang="fr-FR" sz="1600" dirty="0"/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8370277" y="1485814"/>
            <a:ext cx="38217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Partenariat IEJP/fournisseurs GPX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u="dash" dirty="0" smtClean="0">
                <a:uFill>
                  <a:solidFill>
                    <a:srgbClr val="7030A0"/>
                  </a:solidFill>
                </a:uFill>
              </a:rPr>
              <a:t>Offline et partiellement manuel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Fiches inventaires identifiées à mettre à jour manuellement à la demande pour parer aux data obsolètes et/ou incomplètes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Développement informatique réduit (identification des jardins le long d’un itinéraire GPX)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Exigences moindres de support opérationnel PDN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Visibilité-- </a:t>
            </a:r>
            <a:r>
              <a:rPr lang="fr-FR" dirty="0"/>
              <a:t>IEJP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Le s</a:t>
            </a:r>
            <a:r>
              <a:rPr lang="fr-FR" dirty="0" smtClean="0"/>
              <a:t>cenario crédible dans les conditions actuelles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00" y="2862791"/>
            <a:ext cx="1557898" cy="1010679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 rot="4572399">
            <a:off x="5644455" y="3150048"/>
            <a:ext cx="1562197" cy="374353"/>
            <a:chOff x="3325091" y="4908847"/>
            <a:chExt cx="3509818" cy="374353"/>
          </a:xfrm>
        </p:grpSpPr>
        <p:cxnSp>
          <p:nvCxnSpPr>
            <p:cNvPr id="33" name="Connecteur droit avec flèche 32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/>
            <p:cNvSpPr txBox="1"/>
            <p:nvPr/>
          </p:nvSpPr>
          <p:spPr>
            <a:xfrm>
              <a:off x="3612342" y="4908847"/>
              <a:ext cx="29353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pic>
        <p:nvPicPr>
          <p:cNvPr id="25" name="Imag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56" y="1179292"/>
            <a:ext cx="859088" cy="745490"/>
          </a:xfrm>
          <a:prstGeom prst="rect">
            <a:avLst/>
          </a:prstGeom>
        </p:spPr>
      </p:pic>
      <p:cxnSp>
        <p:nvCxnSpPr>
          <p:cNvPr id="28" name="Connecteur droit avec flèche 27"/>
          <p:cNvCxnSpPr/>
          <p:nvPr/>
        </p:nvCxnSpPr>
        <p:spPr>
          <a:xfrm>
            <a:off x="5942641" y="1913867"/>
            <a:ext cx="103793" cy="255773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/>
          <p:cNvCxnSpPr/>
          <p:nvPr/>
        </p:nvCxnSpPr>
        <p:spPr>
          <a:xfrm flipV="1">
            <a:off x="4165600" y="2351430"/>
            <a:ext cx="1375884" cy="147811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50" name="Image 49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53" name="Image 5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  <p:pic>
        <p:nvPicPr>
          <p:cNvPr id="55" name="Imag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6680" y="3342723"/>
            <a:ext cx="824477" cy="659582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10691" y="659472"/>
            <a:ext cx="5153592" cy="412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6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c 13"/>
          <p:cNvSpPr/>
          <p:nvPr/>
        </p:nvSpPr>
        <p:spPr>
          <a:xfrm rot="20973310">
            <a:off x="6910807" y="2647002"/>
            <a:ext cx="598439" cy="1522902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535" h="1447210" stroke="0" extrusionOk="0">
                <a:moveTo>
                  <a:pt x="0" y="0"/>
                </a:moveTo>
                <a:cubicBezTo>
                  <a:pt x="227297" y="0"/>
                  <a:pt x="423677" y="250436"/>
                  <a:pt x="471169" y="600865"/>
                </a:cubicBezTo>
                <a:cubicBezTo>
                  <a:pt x="502104" y="829125"/>
                  <a:pt x="464753" y="1067133"/>
                  <a:pt x="369877" y="1246321"/>
                </a:cubicBezTo>
                <a:lnTo>
                  <a:pt x="0" y="759573"/>
                </a:lnTo>
                <a:lnTo>
                  <a:pt x="0" y="0"/>
                </a:lnTo>
                <a:close/>
              </a:path>
              <a:path w="491535" h="1447210" fill="none">
                <a:moveTo>
                  <a:pt x="167302" y="30841"/>
                </a:moveTo>
                <a:cubicBezTo>
                  <a:pt x="394018" y="268591"/>
                  <a:pt x="423677" y="250436"/>
                  <a:pt x="471169" y="600865"/>
                </a:cubicBezTo>
                <a:cubicBezTo>
                  <a:pt x="502104" y="829125"/>
                  <a:pt x="496651" y="1246000"/>
                  <a:pt x="462585" y="1447210"/>
                </a:cubicBezTo>
              </a:path>
            </a:pathLst>
          </a:cu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1959" y="104654"/>
            <a:ext cx="10641979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N°3bis - Variante portail IEJP Itinéraires-jardins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808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Trace GPX + </a:t>
              </a:r>
              <a:r>
                <a:rPr lang="fr-FR" sz="1600" u="sng" dirty="0" err="1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41" name="Groupe 40"/>
          <p:cNvGrpSpPr/>
          <p:nvPr/>
        </p:nvGrpSpPr>
        <p:grpSpPr>
          <a:xfrm rot="4517574">
            <a:off x="5281558" y="3239176"/>
            <a:ext cx="1577640" cy="338554"/>
            <a:chOff x="3316255" y="4991182"/>
            <a:chExt cx="3509818" cy="338554"/>
          </a:xfrm>
        </p:grpSpPr>
        <p:cxnSp>
          <p:nvCxnSpPr>
            <p:cNvPr id="42" name="Connecteur droit avec flèche 41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hlinkClick r:id="rId7"/>
            </p:cNvPr>
            <p:cNvSpPr txBox="1"/>
            <p:nvPr/>
          </p:nvSpPr>
          <p:spPr>
            <a:xfrm rot="21496444">
              <a:off x="3968723" y="4991182"/>
              <a:ext cx="175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cxnSp>
        <p:nvCxnSpPr>
          <p:cNvPr id="4" name="Connecteur droit avec flèche 3"/>
          <p:cNvCxnSpPr/>
          <p:nvPr/>
        </p:nvCxnSpPr>
        <p:spPr>
          <a:xfrm flipH="1">
            <a:off x="8563708" y="2169642"/>
            <a:ext cx="35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/>
          <p:cNvGrpSpPr/>
          <p:nvPr/>
        </p:nvGrpSpPr>
        <p:grpSpPr>
          <a:xfrm rot="15110632">
            <a:off x="313049" y="3541259"/>
            <a:ext cx="1682512" cy="338554"/>
            <a:chOff x="2741853" y="4991192"/>
            <a:chExt cx="4205493" cy="338554"/>
          </a:xfrm>
        </p:grpSpPr>
        <p:cxnSp>
          <p:nvCxnSpPr>
            <p:cNvPr id="45" name="Connecteur droit avec flèche 4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hlinkClick r:id="rId7"/>
            </p:cNvPr>
            <p:cNvSpPr txBox="1"/>
            <p:nvPr/>
          </p:nvSpPr>
          <p:spPr>
            <a:xfrm rot="21538134">
              <a:off x="2741853" y="4991192"/>
              <a:ext cx="42054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Site </a:t>
              </a:r>
              <a:r>
                <a:rPr lang="fr-FR" sz="1600" dirty="0" err="1" smtClean="0">
                  <a:sym typeface="Wingdings" panose="05000000000000000000" pitchFamily="2" charset="2"/>
                </a:rPr>
                <a:t>internet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endParaRPr lang="fr-FR" sz="1600" dirty="0"/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8370277" y="1485814"/>
            <a:ext cx="3821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Partenariat IEJP/fournisseurs GPX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u="dash" dirty="0" smtClean="0">
                <a:uFill>
                  <a:solidFill>
                    <a:srgbClr val="7030A0"/>
                  </a:solidFill>
                </a:uFill>
              </a:rPr>
              <a:t>Offline et partiellement manuel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Fiches inventaires identifiées à mettre à jour manuellement à la demande pour parer aux data obsolètes et/ou incomplètes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Développement informatique réduit (identification des jardins le long d’un itinéraire GPX)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Exigences moindres de support opérationnel PDN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"/>
            </a:pPr>
            <a:r>
              <a:rPr lang="fr-FR" dirty="0"/>
              <a:t>Visibilité++ IEJP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Le pis-aller pour remettre l’IEJP au centre, au prix d’une duplication </a:t>
            </a:r>
            <a:r>
              <a:rPr lang="fr-FR" dirty="0">
                <a:sym typeface="Wingdings" panose="05000000000000000000" pitchFamily="2" charset="2"/>
              </a:rPr>
              <a:t>des data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00" y="2862791"/>
            <a:ext cx="1557898" cy="1010679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1682" y="3515849"/>
            <a:ext cx="824477" cy="659582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 rot="4572399">
            <a:off x="5644455" y="3150048"/>
            <a:ext cx="1562197" cy="374353"/>
            <a:chOff x="3325091" y="4908847"/>
            <a:chExt cx="3509818" cy="374353"/>
          </a:xfrm>
        </p:grpSpPr>
        <p:cxnSp>
          <p:nvCxnSpPr>
            <p:cNvPr id="33" name="Connecteur droit avec flèche 32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/>
            <p:cNvSpPr txBox="1"/>
            <p:nvPr/>
          </p:nvSpPr>
          <p:spPr>
            <a:xfrm>
              <a:off x="3612342" y="4908847"/>
              <a:ext cx="29353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pic>
        <p:nvPicPr>
          <p:cNvPr id="25" name="Imag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56" y="1179292"/>
            <a:ext cx="859088" cy="745490"/>
          </a:xfrm>
          <a:prstGeom prst="rect">
            <a:avLst/>
          </a:prstGeom>
        </p:spPr>
      </p:pic>
      <p:cxnSp>
        <p:nvCxnSpPr>
          <p:cNvPr id="28" name="Connecteur droit avec flèche 27"/>
          <p:cNvCxnSpPr/>
          <p:nvPr/>
        </p:nvCxnSpPr>
        <p:spPr>
          <a:xfrm>
            <a:off x="5942641" y="1913867"/>
            <a:ext cx="103793" cy="255773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/>
          <p:cNvCxnSpPr/>
          <p:nvPr/>
        </p:nvCxnSpPr>
        <p:spPr>
          <a:xfrm flipV="1">
            <a:off x="4165600" y="2351430"/>
            <a:ext cx="1375884" cy="147811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50" name="Image 4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53" name="Image 52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  <p:pic>
        <p:nvPicPr>
          <p:cNvPr id="55" name="Image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3932" y="3563480"/>
            <a:ext cx="962962" cy="540933"/>
          </a:xfrm>
          <a:prstGeom prst="rect">
            <a:avLst/>
          </a:prstGeom>
        </p:spPr>
      </p:pic>
      <p:pic>
        <p:nvPicPr>
          <p:cNvPr id="56" name="Image 5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3428" y="689809"/>
            <a:ext cx="54768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3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/>
          <p:cNvGrpSpPr/>
          <p:nvPr/>
        </p:nvGrpSpPr>
        <p:grpSpPr>
          <a:xfrm>
            <a:off x="1488558" y="858218"/>
            <a:ext cx="10352567" cy="5594675"/>
            <a:chOff x="0" y="109329"/>
            <a:chExt cx="12192000" cy="6602132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6538"/>
              <a:ext cx="12192000" cy="6564923"/>
            </a:xfrm>
            <a:prstGeom prst="rect">
              <a:avLst/>
            </a:prstGeom>
            <a:ln w="88900"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14" name="ZoneTexte 13"/>
            <p:cNvSpPr txBox="1"/>
            <p:nvPr/>
          </p:nvSpPr>
          <p:spPr>
            <a:xfrm>
              <a:off x="8074343" y="109329"/>
              <a:ext cx="1467065" cy="326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fr-FR" b="1" dirty="0" smtClean="0">
                  <a:ln>
                    <a:solidFill>
                      <a:schemeClr val="bg1"/>
                    </a:solidFill>
                  </a:ln>
                  <a:solidFill>
                    <a:srgbClr val="00B050"/>
                  </a:solidFill>
                </a:rPr>
                <a:t>Site web IEJP</a:t>
              </a:r>
              <a:endParaRPr lang="fr-FR" b="1" dirty="0">
                <a:ln>
                  <a:solidFill>
                    <a:schemeClr val="bg1"/>
                  </a:solidFill>
                </a:ln>
                <a:solidFill>
                  <a:srgbClr val="00B050"/>
                </a:solidFill>
              </a:endParaRPr>
            </a:p>
          </p:txBody>
        </p:sp>
      </p:grp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955" y="2490075"/>
            <a:ext cx="7468362" cy="3947922"/>
          </a:xfrm>
          <a:prstGeom prst="rect">
            <a:avLst/>
          </a:prstGeom>
        </p:spPr>
      </p:pic>
      <p:sp>
        <p:nvSpPr>
          <p:cNvPr id="16" name="Titre 1"/>
          <p:cNvSpPr txBox="1">
            <a:spLocks/>
          </p:cNvSpPr>
          <p:nvPr/>
        </p:nvSpPr>
        <p:spPr>
          <a:xfrm>
            <a:off x="828963" y="226967"/>
            <a:ext cx="10823531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 smtClean="0">
                <a:solidFill>
                  <a:srgbClr val="00B050"/>
                </a:solidFill>
              </a:rPr>
              <a:t>Architecture logicielle N°3bis d’un portail IEJP Itinéraires-jardins</a:t>
            </a:r>
            <a:endParaRPr lang="fr-FR" sz="3200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501580" y="4251918"/>
            <a:ext cx="1380630" cy="646331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Synthétique</a:t>
            </a:r>
          </a:p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Ergonomie améliorée</a:t>
            </a:r>
          </a:p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Plurilinguisme possible</a:t>
            </a:r>
          </a:p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Sous contrôle IEJP</a:t>
            </a:r>
            <a:endParaRPr lang="fr-FR" sz="900" dirty="0">
              <a:solidFill>
                <a:srgbClr val="7B7E42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3501053" y="2238921"/>
            <a:ext cx="72519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fr-FR" sz="500" b="1" dirty="0" smtClean="0">
                <a:solidFill>
                  <a:srgbClr val="576A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Itinéraires-jardins</a:t>
            </a:r>
            <a:endParaRPr lang="fr-FR" sz="500" b="1" dirty="0">
              <a:solidFill>
                <a:srgbClr val="576A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993" y="6026936"/>
            <a:ext cx="385001" cy="349187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4321320" y="2106785"/>
            <a:ext cx="7315200" cy="4037919"/>
            <a:chOff x="3765177" y="2216501"/>
            <a:chExt cx="7315200" cy="4037919"/>
          </a:xfrm>
        </p:grpSpPr>
        <p:sp>
          <p:nvSpPr>
            <p:cNvPr id="11" name="ZoneTexte 10"/>
            <p:cNvSpPr txBox="1"/>
            <p:nvPr/>
          </p:nvSpPr>
          <p:spPr>
            <a:xfrm>
              <a:off x="8740619" y="2216501"/>
              <a:ext cx="12938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fr-FR" b="1" dirty="0" smtClean="0">
                  <a:ln>
                    <a:solidFill>
                      <a:schemeClr val="bg1"/>
                    </a:solidFill>
                  </a:ln>
                  <a:solidFill>
                    <a:srgbClr val="00B050"/>
                  </a:solidFill>
                </a:rPr>
                <a:t>Site web PDN</a:t>
              </a:r>
              <a:endParaRPr lang="fr-FR" b="1" dirty="0">
                <a:ln>
                  <a:solidFill>
                    <a:schemeClr val="bg1"/>
                  </a:solidFill>
                </a:ln>
                <a:solidFill>
                  <a:srgbClr val="00B050"/>
                </a:solidFill>
              </a:endParaRPr>
            </a:p>
          </p:txBody>
        </p:sp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65177" y="2326032"/>
              <a:ext cx="7315200" cy="3928388"/>
            </a:xfrm>
            <a:prstGeom prst="rect">
              <a:avLst/>
            </a:prstGeom>
            <a:ln w="88900" cmpd="sng">
              <a:solidFill>
                <a:schemeClr val="accent1">
                  <a:shade val="50000"/>
                </a:schemeClr>
              </a:solidFill>
            </a:ln>
          </p:spPr>
        </p:pic>
      </p:grpSp>
      <p:grpSp>
        <p:nvGrpSpPr>
          <p:cNvPr id="13" name="Groupe 12"/>
          <p:cNvGrpSpPr/>
          <p:nvPr/>
        </p:nvGrpSpPr>
        <p:grpSpPr>
          <a:xfrm>
            <a:off x="8332414" y="3872472"/>
            <a:ext cx="2143125" cy="2143125"/>
            <a:chOff x="8332414" y="3872472"/>
            <a:chExt cx="2143125" cy="2143125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2414" y="3872472"/>
              <a:ext cx="2143125" cy="2143125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8903965" y="4221127"/>
              <a:ext cx="9671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fr-FR" b="1" dirty="0" smtClean="0">
                  <a:ln>
                    <a:solidFill>
                      <a:schemeClr val="bg1"/>
                    </a:solidFill>
                  </a:ln>
                  <a:solidFill>
                    <a:srgbClr val="00B050"/>
                  </a:solidFill>
                </a:rPr>
                <a:t>Inventaire</a:t>
              </a:r>
              <a:endParaRPr lang="fr-FR" b="1" dirty="0">
                <a:ln>
                  <a:solidFill>
                    <a:schemeClr val="bg1"/>
                  </a:solidFill>
                </a:ln>
                <a:solidFill>
                  <a:srgbClr val="00B050"/>
                </a:solidFill>
              </a:endParaRPr>
            </a:p>
          </p:txBody>
        </p:sp>
      </p:grpSp>
      <p:pic>
        <p:nvPicPr>
          <p:cNvPr id="17" name="Imag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965" y="4639556"/>
            <a:ext cx="1020088" cy="869203"/>
          </a:xfrm>
          <a:prstGeom prst="rect">
            <a:avLst/>
          </a:prstGeom>
          <a:ln w="19050">
            <a:solidFill>
              <a:srgbClr val="2C79BF"/>
            </a:solidFill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146" y="4394915"/>
            <a:ext cx="1020088" cy="869203"/>
          </a:xfrm>
          <a:prstGeom prst="rect">
            <a:avLst/>
          </a:prstGeom>
          <a:ln w="19050">
            <a:solidFill>
              <a:srgbClr val="2C79BF"/>
            </a:solidFill>
          </a:ln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192" y="2683441"/>
            <a:ext cx="1263066" cy="1508188"/>
          </a:xfrm>
          <a:prstGeom prst="rect">
            <a:avLst/>
          </a:prstGeom>
          <a:ln w="19050">
            <a:solidFill>
              <a:srgbClr val="CFD1A7"/>
            </a:solidFill>
          </a:ln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8760" y="2954262"/>
            <a:ext cx="434626" cy="344615"/>
          </a:xfrm>
          <a:prstGeom prst="rect">
            <a:avLst/>
          </a:prstGeom>
        </p:spPr>
      </p:pic>
      <p:grpSp>
        <p:nvGrpSpPr>
          <p:cNvPr id="39" name="Groupe 38"/>
          <p:cNvGrpSpPr/>
          <p:nvPr/>
        </p:nvGrpSpPr>
        <p:grpSpPr>
          <a:xfrm>
            <a:off x="3107565" y="2106785"/>
            <a:ext cx="8630421" cy="4322666"/>
            <a:chOff x="3102955" y="2111406"/>
            <a:chExt cx="8630421" cy="4322666"/>
          </a:xfrm>
        </p:grpSpPr>
        <p:grpSp>
          <p:nvGrpSpPr>
            <p:cNvPr id="36" name="Groupe 35"/>
            <p:cNvGrpSpPr/>
            <p:nvPr/>
          </p:nvGrpSpPr>
          <p:grpSpPr>
            <a:xfrm>
              <a:off x="3102955" y="2111406"/>
              <a:ext cx="8630421" cy="4322666"/>
              <a:chOff x="3102955" y="2111406"/>
              <a:chExt cx="8630421" cy="4322666"/>
            </a:xfrm>
          </p:grpSpPr>
          <p:grpSp>
            <p:nvGrpSpPr>
              <p:cNvPr id="33" name="Groupe 32"/>
              <p:cNvGrpSpPr/>
              <p:nvPr/>
            </p:nvGrpSpPr>
            <p:grpSpPr>
              <a:xfrm>
                <a:off x="3102955" y="2118714"/>
                <a:ext cx="8630421" cy="4315358"/>
                <a:chOff x="3102955" y="2118714"/>
                <a:chExt cx="8630421" cy="4315358"/>
              </a:xfrm>
            </p:grpSpPr>
            <p:pic>
              <p:nvPicPr>
                <p:cNvPr id="29" name="Imag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02955" y="2486150"/>
                  <a:ext cx="7468362" cy="3947922"/>
                </a:xfrm>
                <a:prstGeom prst="rect">
                  <a:avLst/>
                </a:prstGeom>
              </p:spPr>
            </p:pic>
            <p:sp>
              <p:nvSpPr>
                <p:cNvPr id="32" name="Rectangle 31"/>
                <p:cNvSpPr/>
                <p:nvPr/>
              </p:nvSpPr>
              <p:spPr>
                <a:xfrm>
                  <a:off x="10571317" y="2118714"/>
                  <a:ext cx="1162059" cy="41536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5" name="Rectangle 34"/>
              <p:cNvSpPr/>
              <p:nvPr/>
            </p:nvSpPr>
            <p:spPr>
              <a:xfrm>
                <a:off x="4224464" y="2111406"/>
                <a:ext cx="6359184" cy="3785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38" name="Connecteur droit 37"/>
            <p:cNvCxnSpPr/>
            <p:nvPr/>
          </p:nvCxnSpPr>
          <p:spPr>
            <a:xfrm>
              <a:off x="4213571" y="2408198"/>
              <a:ext cx="7114495" cy="0"/>
            </a:xfrm>
            <a:prstGeom prst="line">
              <a:avLst/>
            </a:prstGeom>
            <a:ln>
              <a:solidFill>
                <a:srgbClr val="E7E9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/>
          <p:cNvSpPr/>
          <p:nvPr/>
        </p:nvSpPr>
        <p:spPr>
          <a:xfrm>
            <a:off x="7187920" y="4705378"/>
            <a:ext cx="4448600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fr-FR" sz="600" b="1" u="sng" dirty="0">
                <a:solidFill>
                  <a:srgbClr val="85C0F9"/>
                </a:solidFill>
              </a:rPr>
              <a:t>https://pdn-patrimonia.unicaen.fr/iejp/france/inventaires/Bretagne/Finistere/FRIEJP_INVFinistere.xml/FRIEJP_INVFinistere_J191.html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3103" y="1589433"/>
            <a:ext cx="7238905" cy="3250121"/>
          </a:xfrm>
          <a:prstGeom prst="rect">
            <a:avLst/>
          </a:prstGeom>
          <a:ln>
            <a:solidFill>
              <a:srgbClr val="CFD1A7"/>
            </a:solidFill>
          </a:ln>
        </p:spPr>
      </p:pic>
    </p:spTree>
    <p:extLst>
      <p:ext uri="{BB962C8B-B14F-4D97-AF65-F5344CB8AC3E}">
        <p14:creationId xmlns:p14="http://schemas.microsoft.com/office/powerpoint/2010/main" val="374205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33333E-6 L -0.53464 -0.241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32" y="-1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21" grpId="0" animBg="1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67" y="0"/>
            <a:ext cx="12192000" cy="657910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467" y="1468429"/>
            <a:ext cx="2447387" cy="157934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733" y="2681058"/>
            <a:ext cx="123838" cy="123838"/>
          </a:xfrm>
          <a:prstGeom prst="rect">
            <a:avLst/>
          </a:prstGeom>
        </p:spPr>
      </p:pic>
      <p:grpSp>
        <p:nvGrpSpPr>
          <p:cNvPr id="29" name="Groupe 28"/>
          <p:cNvGrpSpPr/>
          <p:nvPr/>
        </p:nvGrpSpPr>
        <p:grpSpPr>
          <a:xfrm>
            <a:off x="6590373" y="727618"/>
            <a:ext cx="2449028" cy="1580400"/>
            <a:chOff x="6516017" y="3680182"/>
            <a:chExt cx="2449028" cy="1580400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16017" y="3680182"/>
              <a:ext cx="2449028" cy="15804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516017" y="3738919"/>
              <a:ext cx="2155142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fr-FR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Jardin des Plantes de Nantes</a:t>
              </a:r>
              <a:endParaRPr lang="fr-FR" sz="13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20986" y="4031307"/>
              <a:ext cx="2161173" cy="82073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fr-F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Ce jardin témoigne d’une tradition botanique initiée au XVIIe siècle. En 1822, le jardin est restauré par Antoine Noisette. Puis, dès 1840, Jean-Marie </a:t>
              </a:r>
              <a:r>
                <a:rPr lang="fr-FR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Écorchard</a:t>
              </a:r>
              <a:r>
                <a:rPr lang="fr-F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lui donne son aspect actuel. Dans sa physionomie, le jardin se caractérise par une partie haute gardant un tracé à la française suivie d’une partie basse paysagère.</a:t>
              </a:r>
              <a:endParaRPr lang="fr-F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07156" y="4866913"/>
              <a:ext cx="2011604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r>
                <a:rPr lang="fr-FR" sz="900" dirty="0" smtClean="0">
                  <a:solidFill>
                    <a:srgbClr val="007BAE"/>
                  </a:solidFill>
                </a:rPr>
                <a:t>europeangardens.eu/</a:t>
              </a:r>
              <a:r>
                <a:rPr lang="fr-FR" sz="900" dirty="0" err="1" smtClean="0">
                  <a:solidFill>
                    <a:srgbClr val="007BAE"/>
                  </a:solidFill>
                </a:rPr>
                <a:t>itineraires</a:t>
              </a:r>
              <a:r>
                <a:rPr lang="fr-FR" sz="900" dirty="0" smtClean="0">
                  <a:solidFill>
                    <a:srgbClr val="007BAE"/>
                  </a:solidFill>
                </a:rPr>
                <a:t>-jardins</a:t>
              </a:r>
              <a:endParaRPr lang="fr-FR" sz="900" dirty="0">
                <a:solidFill>
                  <a:srgbClr val="69B3DC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0986" y="5028200"/>
              <a:ext cx="2011604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80000" tIns="0" rIns="0" bIns="0">
              <a:spAutoFit/>
            </a:bodyPr>
            <a:lstStyle/>
            <a:p>
              <a:r>
                <a:rPr lang="fr-FR" sz="900" dirty="0" smtClean="0">
                  <a:solidFill>
                    <a:srgbClr val="007BAE"/>
                  </a:solidFill>
                </a:rPr>
                <a:t>/EV1</a:t>
              </a:r>
              <a:endParaRPr lang="fr-FR" sz="900" dirty="0">
                <a:solidFill>
                  <a:srgbClr val="69B3DC"/>
                </a:solidFill>
              </a:endParaRPr>
            </a:p>
          </p:txBody>
        </p:sp>
      </p:grpSp>
      <p:sp>
        <p:nvSpPr>
          <p:cNvPr id="25" name="Rectangle 24">
            <a:hlinkClick r:id="rId5" action="ppaction://hlinksldjump"/>
          </p:cNvPr>
          <p:cNvSpPr/>
          <p:nvPr/>
        </p:nvSpPr>
        <p:spPr>
          <a:xfrm>
            <a:off x="6455659" y="1928817"/>
            <a:ext cx="2718455" cy="285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251295" y="2052848"/>
            <a:ext cx="129006" cy="129006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5978230" y="2117122"/>
            <a:ext cx="129006" cy="129006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031497" y="2414514"/>
            <a:ext cx="129006" cy="129006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193858" y="2640292"/>
            <a:ext cx="129006" cy="129006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604782" y="2751882"/>
            <a:ext cx="129006" cy="129006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566336" y="3350831"/>
            <a:ext cx="129006" cy="129006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604782" y="3093589"/>
            <a:ext cx="129006" cy="129006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345818" y="4851880"/>
            <a:ext cx="129006" cy="12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8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108" y="-63412"/>
            <a:ext cx="12192000" cy="64378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94582" y="995082"/>
            <a:ext cx="792453" cy="159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118" y="957259"/>
            <a:ext cx="729774" cy="23501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232329" y="1524546"/>
            <a:ext cx="895348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36000" rtlCol="0">
            <a:spAutoFit/>
          </a:bodyPr>
          <a:lstStyle/>
          <a:p>
            <a:r>
              <a:rPr lang="fr-FR" sz="600" dirty="0" smtClean="0">
                <a:solidFill>
                  <a:srgbClr val="576A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Itinéraires-jardins</a:t>
            </a:r>
            <a:endParaRPr lang="fr-FR" sz="600" dirty="0">
              <a:solidFill>
                <a:srgbClr val="576A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135" y="1748030"/>
            <a:ext cx="1654161" cy="27934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3266" y="2027375"/>
            <a:ext cx="4896593" cy="4726462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785" y="4278834"/>
            <a:ext cx="949953" cy="1512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sp>
        <p:nvSpPr>
          <p:cNvPr id="22" name="Rectangle 21"/>
          <p:cNvSpPr/>
          <p:nvPr/>
        </p:nvSpPr>
        <p:spPr>
          <a:xfrm>
            <a:off x="6799859" y="2027375"/>
            <a:ext cx="3254272" cy="46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8" name="Groupe 27"/>
          <p:cNvGrpSpPr/>
          <p:nvPr/>
        </p:nvGrpSpPr>
        <p:grpSpPr>
          <a:xfrm>
            <a:off x="3594882" y="3623516"/>
            <a:ext cx="947612" cy="187996"/>
            <a:chOff x="3594882" y="3623516"/>
            <a:chExt cx="947612" cy="187996"/>
          </a:xfrm>
        </p:grpSpPr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3594882" y="3649512"/>
              <a:ext cx="162000" cy="162000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693544" y="3623516"/>
              <a:ext cx="848950" cy="169277"/>
            </a:xfrm>
            <a:prstGeom prst="rect">
              <a:avLst/>
            </a:prstGeom>
            <a:noFill/>
          </p:spPr>
          <p:txBody>
            <a:bodyPr wrap="none" rIns="0">
              <a:spAutoFit/>
            </a:bodyPr>
            <a:lstStyle/>
            <a:p>
              <a:r>
                <a:rPr lang="fr-FR" sz="5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Jardin des Plantes de Nantes</a:t>
              </a:r>
              <a:endParaRPr lang="fr-FR" sz="5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31" name="Image 30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4282" y="1785054"/>
            <a:ext cx="2170271" cy="25203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7990" y="2044226"/>
            <a:ext cx="4044375" cy="4545045"/>
          </a:xfrm>
          <a:prstGeom prst="rect">
            <a:avLst/>
          </a:prstGeom>
        </p:spPr>
      </p:pic>
      <p:pic>
        <p:nvPicPr>
          <p:cNvPr id="30" name="Image 29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7822" y="4437128"/>
            <a:ext cx="1515618" cy="189452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6836719" y="2433416"/>
            <a:ext cx="230191" cy="253916"/>
          </a:xfrm>
          <a:prstGeom prst="rect">
            <a:avLst/>
          </a:prstGeom>
          <a:solidFill>
            <a:schemeClr val="bg1"/>
          </a:solidFill>
        </p:spPr>
        <p:txBody>
          <a:bodyPr wrap="none" rIns="0" rtlCol="0">
            <a:spAutoFit/>
          </a:bodyPr>
          <a:lstStyle/>
          <a:p>
            <a:r>
              <a:rPr lang="fr-FR" sz="1050" dirty="0" smtClean="0">
                <a:solidFill>
                  <a:srgbClr val="378BE6"/>
                </a:solidFill>
              </a:rPr>
              <a:t>21</a:t>
            </a:r>
            <a:endParaRPr lang="fr-FR" sz="1050" dirty="0">
              <a:solidFill>
                <a:srgbClr val="378BE6"/>
              </a:solidFill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650" y="977544"/>
            <a:ext cx="712316" cy="173513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>
            <a:off x="5292118" y="1229946"/>
            <a:ext cx="4259384" cy="2496588"/>
            <a:chOff x="5275031" y="1180547"/>
            <a:chExt cx="4259384" cy="2496588"/>
          </a:xfrm>
        </p:grpSpPr>
        <p:pic>
          <p:nvPicPr>
            <p:cNvPr id="33" name="Image 3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20693" y="1180547"/>
              <a:ext cx="4213722" cy="1750954"/>
            </a:xfrm>
            <a:prstGeom prst="rect">
              <a:avLst/>
            </a:prstGeom>
          </p:spPr>
        </p:pic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344033" y="1681647"/>
              <a:ext cx="3481388" cy="1995488"/>
            </a:xfrm>
            <a:prstGeom prst="rect">
              <a:avLst/>
            </a:prstGeom>
          </p:spPr>
        </p:pic>
        <p:sp>
          <p:nvSpPr>
            <p:cNvPr id="35" name="ZoneTexte 34"/>
            <p:cNvSpPr txBox="1"/>
            <p:nvPr/>
          </p:nvSpPr>
          <p:spPr>
            <a:xfrm>
              <a:off x="5275031" y="1488772"/>
              <a:ext cx="103105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fr-FR" sz="800" cap="small" dirty="0" smtClean="0">
                  <a:solidFill>
                    <a:srgbClr val="67718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Itinéraires-jardins</a:t>
              </a:r>
              <a:endParaRPr lang="fr-FR" sz="800" cap="small" dirty="0">
                <a:solidFill>
                  <a:srgbClr val="677180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6906247" y="3142185"/>
            <a:ext cx="396920" cy="2895612"/>
            <a:chOff x="6906247" y="3142185"/>
            <a:chExt cx="396920" cy="2895612"/>
          </a:xfrm>
        </p:grpSpPr>
        <p:sp>
          <p:nvSpPr>
            <p:cNvPr id="16" name="Rectangle 15"/>
            <p:cNvSpPr/>
            <p:nvPr/>
          </p:nvSpPr>
          <p:spPr>
            <a:xfrm>
              <a:off x="6906247" y="5651819"/>
              <a:ext cx="367538" cy="385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906247" y="4399171"/>
              <a:ext cx="367538" cy="385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935629" y="3142185"/>
              <a:ext cx="367538" cy="385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4861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108" y="-63412"/>
            <a:ext cx="12192000" cy="64378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94582" y="995082"/>
            <a:ext cx="792453" cy="159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118" y="957259"/>
            <a:ext cx="729774" cy="23501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232329" y="1524546"/>
            <a:ext cx="895348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36000" rtlCol="0">
            <a:spAutoFit/>
          </a:bodyPr>
          <a:lstStyle/>
          <a:p>
            <a:r>
              <a:rPr lang="fr-FR" sz="600" dirty="0" smtClean="0">
                <a:solidFill>
                  <a:srgbClr val="576A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Itinéraires-jardins</a:t>
            </a:r>
            <a:endParaRPr lang="fr-FR" sz="600" dirty="0">
              <a:solidFill>
                <a:srgbClr val="576A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135" y="1748030"/>
            <a:ext cx="1654161" cy="27934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3266" y="2027375"/>
            <a:ext cx="4896593" cy="4726462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785" y="4278834"/>
            <a:ext cx="949953" cy="1512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sp>
        <p:nvSpPr>
          <p:cNvPr id="22" name="Rectangle 21"/>
          <p:cNvSpPr/>
          <p:nvPr/>
        </p:nvSpPr>
        <p:spPr>
          <a:xfrm>
            <a:off x="6799859" y="2027375"/>
            <a:ext cx="3254272" cy="46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6318" y="2189030"/>
            <a:ext cx="3236140" cy="69133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3774" y="3700460"/>
            <a:ext cx="3236141" cy="302375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649" y="3071436"/>
            <a:ext cx="1212571" cy="90942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802086" y="2189030"/>
            <a:ext cx="1405748" cy="215444"/>
          </a:xfrm>
          <a:prstGeom prst="rect">
            <a:avLst/>
          </a:prstGeom>
          <a:solidFill>
            <a:schemeClr val="bg1"/>
          </a:solidFill>
        </p:spPr>
        <p:txBody>
          <a:bodyPr wrap="square" rIns="0">
            <a:spAutoFit/>
          </a:bodyPr>
          <a:lstStyle/>
          <a:p>
            <a:r>
              <a:rPr lang="fr-FR" sz="800" b="1" dirty="0" smtClean="0">
                <a:solidFill>
                  <a:srgbClr val="5C5B5F"/>
                </a:solidFill>
              </a:rPr>
              <a:t>Jardin des Plantes de Nantes</a:t>
            </a:r>
            <a:endParaRPr lang="fr-FR" sz="800" b="1" dirty="0">
              <a:solidFill>
                <a:srgbClr val="5C5B5F"/>
              </a:solidFill>
            </a:endParaRPr>
          </a:p>
        </p:txBody>
      </p:sp>
      <p:grpSp>
        <p:nvGrpSpPr>
          <p:cNvPr id="28" name="Groupe 27"/>
          <p:cNvGrpSpPr/>
          <p:nvPr/>
        </p:nvGrpSpPr>
        <p:grpSpPr>
          <a:xfrm>
            <a:off x="3594882" y="3623516"/>
            <a:ext cx="947612" cy="187996"/>
            <a:chOff x="3594882" y="3623516"/>
            <a:chExt cx="947612" cy="187996"/>
          </a:xfrm>
        </p:grpSpPr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3594882" y="3649512"/>
              <a:ext cx="162000" cy="162000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693544" y="3623516"/>
              <a:ext cx="848950" cy="169277"/>
            </a:xfrm>
            <a:prstGeom prst="rect">
              <a:avLst/>
            </a:prstGeom>
            <a:noFill/>
          </p:spPr>
          <p:txBody>
            <a:bodyPr wrap="none" rIns="0">
              <a:spAutoFit/>
            </a:bodyPr>
            <a:lstStyle/>
            <a:p>
              <a:r>
                <a:rPr lang="fr-FR" sz="5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Jardin des Plantes de Nantes</a:t>
              </a:r>
              <a:endParaRPr lang="fr-FR" sz="5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29" name="Image 28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8714" y="4231465"/>
            <a:ext cx="1302449" cy="151543"/>
          </a:xfrm>
          <a:prstGeom prst="rect">
            <a:avLst/>
          </a:prstGeom>
        </p:spPr>
      </p:pic>
      <p:pic>
        <p:nvPicPr>
          <p:cNvPr id="30" name="Image 29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3774" y="2189030"/>
            <a:ext cx="1515618" cy="189452"/>
          </a:xfrm>
          <a:prstGeom prst="rect">
            <a:avLst/>
          </a:prstGeom>
        </p:spPr>
      </p:pic>
      <p:pic>
        <p:nvPicPr>
          <p:cNvPr id="31" name="Image 30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44282" y="1785054"/>
            <a:ext cx="2170271" cy="25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5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326"/>
            <a:ext cx="12192000" cy="6491347"/>
          </a:xfrm>
          <a:prstGeom prst="rect">
            <a:avLst/>
          </a:prstGeom>
        </p:spPr>
      </p:pic>
      <p:pic>
        <p:nvPicPr>
          <p:cNvPr id="6" name="Image 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323" y="5066236"/>
            <a:ext cx="2480310" cy="47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1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470"/>
            <a:ext cx="12192000" cy="6124983"/>
          </a:xfrm>
          <a:prstGeom prst="rect">
            <a:avLst/>
          </a:prstGeom>
        </p:spPr>
      </p:pic>
      <p:pic>
        <p:nvPicPr>
          <p:cNvPr id="3" name="Image 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811" y="3843664"/>
            <a:ext cx="3140091" cy="4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4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429</Words>
  <Application>Microsoft Office PowerPoint</Application>
  <PresentationFormat>Grand écran</PresentationFormat>
  <Paragraphs>98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Poppins</vt:lpstr>
      <vt:lpstr>Wingdings</vt:lpstr>
      <vt:lpstr>Thème Office</vt:lpstr>
      <vt:lpstr>Cas d’usage ‘jardins le long d’un itinéraire’  Etude de l’architecture du service  </vt:lpstr>
      <vt:lpstr>Architecture de service N°1 - Service standalone</vt:lpstr>
      <vt:lpstr>Architecture de service N°2 - Délégation de la distribution des POIs</vt:lpstr>
      <vt:lpstr>Architecture de service N°3 – Factory de POIs</vt:lpstr>
      <vt:lpstr>Architecture N°3bis - Variante portail IEJP Itinéraires-jardins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User</dc:creator>
  <cp:lastModifiedBy>User</cp:lastModifiedBy>
  <cp:revision>64</cp:revision>
  <dcterms:created xsi:type="dcterms:W3CDTF">2026-03-26T08:58:13Z</dcterms:created>
  <dcterms:modified xsi:type="dcterms:W3CDTF">2026-05-06T10:11:57Z</dcterms:modified>
</cp:coreProperties>
</file>